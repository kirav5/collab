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7.jpg"/><Relationship Id="rId6" Type="http://schemas.openxmlformats.org/officeDocument/2006/relationships/image" Target="../media/image8.jpg"/><Relationship Id="rId7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9.jpg"/><Relationship Id="rId6" Type="http://schemas.openxmlformats.org/officeDocument/2006/relationships/image" Target="../media/image11.jpg"/><Relationship Id="rId7" Type="http://schemas.openxmlformats.org/officeDocument/2006/relationships/image" Target="../media/image12.jpg"/><Relationship Id="rId8" Type="http://schemas.openxmlformats.org/officeDocument/2006/relationships/image" Target="../media/image1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Collab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Atishay Srivastava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Retail &amp; Commerce — Intelligent Customer and Business Experiences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411480" y="1325880"/>
            <a:ext cx="83210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202020"/>
                </a:solidFill>
                <a:latin typeface="Arial"/>
              </a:rPr>
              <a:t>Collab gives every person and every shop a personal AI agent that can ask anyone's agent for anything — and never shares what its owner keeps private.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202020"/>
                </a:solidFill>
                <a:latin typeface="Arial"/>
              </a:rPr>
              <a:t>Scan a shop's QR (or describe what you need). Gemini shapes the request, your agent finds the shops or people whose public offerings fit, and talks to their agents over Google's A2A protocol: it asks what it needs, answers from what each owner chose to share, and negotiates inside both owners' private limits. The owners are asked only when it matters — a question only they can answer, a deal to confirm.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202020"/>
                </a:solidFill>
                <a:latin typeface="Arial"/>
              </a:rPr>
              <a:t>After both confirm, the shop's agent issues a signed cart, the buyer pays (AP2-shaped mandates; Google Pay in test mode), stock or a time slot is reserved, and the buyer gets a one-time pickup pass the shop scans at the counter — no queue. Anyone can verify the deal record with Collab's published key.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202020"/>
                </a:solidFill>
                <a:latin typeface="Arial"/>
              </a:rPr>
              <a:t>Built for Indian neighbourhood commerce: ₹, kirana shops with no catalogue, tutors and repair people with time slots, Hinglish requests, UPI-ready.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different is it from any of the other existing ideas?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will it be able to solve the problem?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411480" y="2057400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02020"/>
                </a:solidFill>
                <a:latin typeface="Arial"/>
              </a:rPr>
              <a:t>How is it different from existing ideas?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8640" y="2331720"/>
            <a:ext cx="8138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Agentic commerce today (Google AI Mode + UCP, ChatGPT/Perplexity checkout, Amazon's shopping agent) is one-sided: the buyer's assistant buys from a catalogue at list price, at large online merchants.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Collab represents BOTH sides. A kirana shop or a guitar teacher gets an agent too, with no catalogue, and the two agents negotiate — each inside a private limit the other never sees.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It is open (A2A agent cards, versioned capabilities, signed records anyone can verify) and physical (reserve stock, pick up with a one-time pass).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3538727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02020"/>
                </a:solidFill>
                <a:latin typeface="Arial"/>
              </a:rPr>
              <a:t>How does it solve the problem?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8640" y="3813048"/>
            <a:ext cx="8138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Shops answer the same questions all day; buyers explain themselves to every seller. Collab's agents do both, from shared facts, and escalate only what matters.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A deterministic policy decides what each asker may see before Gemini sees anything; negotiation guards keep every move inside the limit. Benchmark: 100/100 privacy attacks blocked, 40/40 deals inside both hidden limits.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1480" y="4745736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02020"/>
                </a:solidFill>
                <a:latin typeface="Arial"/>
              </a:rPr>
              <a:t>USP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8640" y="5020055"/>
            <a:ext cx="8138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Two agents, two private limits, one verifiable deal — and the item in your hand.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411480" y="128016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Personal A2A agent per person and shop (signed agent card, versioned capabilities)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Shop QR → direct conversation with the shop's agent, skip the queue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Gemini-shaped requests: clarifying questions, brief with no money in it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Directory search by meaning (Gemini embeddings + Firestore vector search)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Three context tiers: Private (never shared), Protected (rules), Public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Agents answer from shared facts; owners asked only when needed (push)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Negotiation inside private limits; standing mandates with autonomy &amp; expiry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Decisions with deadlines; silence never approves; stale approvals refused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Goals: budgets across deals, multi-provider plans, recurring, all-or-nothing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617720" y="128016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Stock and time-slot ledger: atomic holds, expiry, out-of-stock refuses payment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Connectors: signed POS stock events, calendar busy times (scoped, revocable)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AP2-shaped checkout and payment mandates; Google Pay (TEST) — no money moves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One-time pickup pass; seller marks collected; delivered → accepted/disputed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Deal records anyone can verify offline with the published Ed25519 key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Fair-price check (Google Search grounding) and nearby shops (Maps grounding)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Scheduled agents keep watching a request; Model Armor screens other agents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Installable app (PWA): offline cache, push, on-device Gemini Nano for private notes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Market insights from anonymised deals; track record from accepted handovers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6" name="Picture 95" descr="process-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19" y="1280160"/>
            <a:ext cx="7223760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411480" y="1234440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202020"/>
                </a:solidFill>
                <a:latin typeface="Arial"/>
              </a:rPr>
              <a:t>Live screens from the deployed app (phone and desktop), not mocks.</a:t>
            </a:r>
          </a:p>
        </p:txBody>
      </p:sp>
      <p:pic>
        <p:nvPicPr>
          <p:cNvPr id="105" name="Picture 104" descr="requests-mobil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554480"/>
            <a:ext cx="1562475" cy="3383279"/>
          </a:xfrm>
          <a:prstGeom prst="rect">
            <a:avLst/>
          </a:prstGeom>
        </p:spPr>
      </p:pic>
      <p:pic>
        <p:nvPicPr>
          <p:cNvPr id="106" name="Picture 105" descr="sidebar-mobil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8880" y="1554480"/>
            <a:ext cx="1562475" cy="3383279"/>
          </a:xfrm>
          <a:prstGeom prst="rect">
            <a:avLst/>
          </a:prstGeom>
        </p:spPr>
      </p:pic>
      <p:pic>
        <p:nvPicPr>
          <p:cNvPr id="107" name="Picture 106" descr="chat-deal-deskto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26280" y="1554480"/>
            <a:ext cx="4206240" cy="269725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Picture 111" descr="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1721" y="1234440"/>
            <a:ext cx="6440556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411480" y="1280160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202020"/>
                </a:solidFill>
                <a:latin typeface="Arial"/>
              </a:rPr>
              <a:t>Gemini on Vertex AI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063240" y="1280160"/>
            <a:ext cx="5760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202020"/>
                </a:solidFill>
                <a:latin typeface="Arial"/>
              </a:rPr>
              <a:t>3.6/3.8 Flash + Flash-Lite tier; JSON schemas; thinking levels; fallback; token/cost meter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11480" y="1595628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202020"/>
                </a:solidFill>
                <a:latin typeface="Arial"/>
              </a:rPr>
              <a:t>Gemini embeddings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063240" y="1595628"/>
            <a:ext cx="5760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202020"/>
                </a:solidFill>
                <a:latin typeface="Arial"/>
              </a:rPr>
              <a:t>gemini-embedding-001 (768-d) + Firestore vector index (pre-filtered)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11480" y="1911095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202020"/>
                </a:solidFill>
                <a:latin typeface="Arial"/>
              </a:rPr>
              <a:t>Grounding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063240" y="1911095"/>
            <a:ext cx="5760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202020"/>
                </a:solidFill>
                <a:latin typeface="Arial"/>
              </a:rPr>
              <a:t>Google Search (fair price, every number traced to a source) · Google Maps (nearby shops)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11480" y="2226563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202020"/>
                </a:solidFill>
                <a:latin typeface="Arial"/>
              </a:rPr>
              <a:t>Gemini Nano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063240" y="2226563"/>
            <a:ext cx="5760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202020"/>
                </a:solidFill>
                <a:latin typeface="Arial"/>
              </a:rPr>
              <a:t>Firebase AI Logic, on-device only mode for private notes (Chrome desktop)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11480" y="2542031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202020"/>
                </a:solidFill>
                <a:latin typeface="Arial"/>
              </a:rPr>
              <a:t>A2A v1.0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063240" y="2542031"/>
            <a:ext cx="5760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202020"/>
                </a:solidFill>
                <a:latin typeface="Arial"/>
              </a:rPr>
              <a:t>@a2a-js/sdk: signed agent cards, JSON-RPC, SSE streaming, push webhooks, anonymous tokens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11480" y="2857499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202020"/>
                </a:solidFill>
                <a:latin typeface="Arial"/>
              </a:rPr>
              <a:t>AP2 (shaped)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063240" y="2857499"/>
            <a:ext cx="5760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202020"/>
                </a:solidFill>
                <a:latin typeface="Arial"/>
              </a:rPr>
              <a:t>seller-authorised checkout (JWS/JCS), SD-JWT Checkout + Payment Mandates, Google Pay TEST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11480" y="3172967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202020"/>
                </a:solidFill>
                <a:latin typeface="Arial"/>
              </a:rPr>
              <a:t>Cloud Run · Cloud Tasks · Scheduler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063240" y="3172967"/>
            <a:ext cx="5760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202020"/>
                </a:solidFill>
                <a:latin typeface="Arial"/>
              </a:rPr>
              <a:t>server, durable agent turns, minute jobs (recovery, deadlines, watches)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11480" y="3488435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202020"/>
                </a:solidFill>
                <a:latin typeface="Arial"/>
              </a:rPr>
              <a:t>Firestore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63240" y="3488435"/>
            <a:ext cx="5760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202020"/>
                </a:solidFill>
                <a:latin typeface="Arial"/>
              </a:rPr>
              <a:t>profiles, facts, rules, conversations, ledgers, receipts, goals; TTL; security rules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11480" y="3803903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202020"/>
                </a:solidFill>
                <a:latin typeface="Arial"/>
              </a:rPr>
              <a:t>Firebase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063240" y="3803903"/>
            <a:ext cx="5760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202020"/>
                </a:solidFill>
                <a:latin typeface="Arial"/>
              </a:rPr>
              <a:t>Hosting (PWA), Auth (Google/guest), App Check + replay protection, Cloud Messaging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11480" y="4119371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202020"/>
                </a:solidFill>
                <a:latin typeface="Arial"/>
              </a:rPr>
              <a:t>Model Armor · Secret Manager · Monitoring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063240" y="4119371"/>
            <a:ext cx="5760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202020"/>
                </a:solidFill>
                <a:latin typeface="Arial"/>
              </a:rPr>
              <a:t>injection/sensitive-data screening; keys; uptime alert; structured logs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11480" y="4434839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202020"/>
                </a:solidFill>
                <a:latin typeface="Arial"/>
              </a:rPr>
              <a:t>Node 24 · TypeScript (strict) · Express 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063240" y="4434839"/>
            <a:ext cx="5760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202020"/>
                </a:solidFill>
                <a:latin typeface="Arial"/>
              </a:rPr>
              <a:t>108 unit/e2e tests; benchmark harness; Vertex AI evaluation autorater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411480" y="1234440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Google Cloud free trial covers the hackathon; figures below are measured where possible (token meter on /health), else Google's published rates.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11480" y="169164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202020"/>
                </a:solidFill>
                <a:latin typeface="Arial"/>
              </a:rPr>
              <a:t>Gemini (per completed deal, ~22 calls)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023360" y="16916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≈ ₹1.4 ($0.016)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035040" y="1691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606060"/>
                </a:solidFill>
                <a:latin typeface="Arial"/>
              </a:rPr>
              <a:t>measured: 1,402 calls ≈ $1.17 in the full benchmark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11480" y="214884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202020"/>
                </a:solidFill>
                <a:latin typeface="Arial"/>
              </a:rPr>
              <a:t>Search grounding (fair-price check)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023360" y="2148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≈ ₹3 per check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035040" y="2148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606060"/>
                </a:solidFill>
                <a:latin typeface="Arial"/>
              </a:rPr>
              <a:t>Google's per-prompt rate; optional, owner-triggered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11480" y="260604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202020"/>
                </a:solidFill>
                <a:latin typeface="Arial"/>
              </a:rPr>
              <a:t>Maps grounding (nearby shops)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023360" y="26060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≈ ₹1.2 per lookup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035040" y="2606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606060"/>
                </a:solidFill>
                <a:latin typeface="Arial"/>
              </a:rPr>
              <a:t>$14 / 1,000 prompts; optional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11480" y="306324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202020"/>
                </a:solidFill>
                <a:latin typeface="Arial"/>
              </a:rPr>
              <a:t>Cloud Run (1 warm instance, 1 GiB)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23360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≈ ₹1,000 / month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35040" y="30632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606060"/>
                </a:solidFill>
                <a:latin typeface="Arial"/>
              </a:rPr>
              <a:t>0 when idle if min-instances is 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11480" y="352044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202020"/>
                </a:solidFill>
                <a:latin typeface="Arial"/>
              </a:rPr>
              <a:t>Firestore, Hosting, Auth, FCM, Scheduler, Tasks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023360" y="35204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≈ ₹0–300 / month at pilot scale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035040" y="3520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606060"/>
                </a:solidFill>
                <a:latin typeface="Arial"/>
              </a:rPr>
              <a:t>free tiers cover a neighbourhood pilot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11480" y="3977639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202020"/>
                </a:solidFill>
                <a:latin typeface="Arial"/>
              </a:rPr>
              <a:t>Pilot of 50 shops × 500 deals / month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023360" y="397763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≈ ₹2,000 / month all-in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035040" y="397763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606060"/>
                </a:solidFill>
                <a:latin typeface="Arial"/>
              </a:rPr>
              <a:t>≈ ₹4 per deal; payments in test mode (no fees)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chat-deal-desktop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1234440"/>
            <a:ext cx="2495438" cy="1600200"/>
          </a:xfrm>
          <a:prstGeom prst="rect">
            <a:avLst/>
          </a:prstGeom>
        </p:spPr>
      </p:pic>
      <p:sp>
        <p:nvSpPr>
          <p:cNvPr id="137" name="TextBox 136"/>
          <p:cNvSpPr txBox="1"/>
          <p:nvPr/>
        </p:nvSpPr>
        <p:spPr>
          <a:xfrm>
            <a:off x="411480" y="2852928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606060"/>
                </a:solidFill>
                <a:latin typeface="Arial"/>
              </a:rPr>
              <a:t>Live conversation card: deal, payment, handover</a:t>
            </a:r>
          </a:p>
        </p:txBody>
      </p:sp>
      <p:pic>
        <p:nvPicPr>
          <p:cNvPr id="138" name="Picture 137" descr="requests-goals-desktop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7720" y="1234440"/>
            <a:ext cx="4023360" cy="1207008"/>
          </a:xfrm>
          <a:prstGeom prst="rect">
            <a:avLst/>
          </a:prstGeom>
        </p:spPr>
      </p:pic>
      <p:sp>
        <p:nvSpPr>
          <p:cNvPr id="139" name="TextBox 138"/>
          <p:cNvSpPr txBox="1"/>
          <p:nvPr/>
        </p:nvSpPr>
        <p:spPr>
          <a:xfrm>
            <a:off x="4617720" y="2459736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606060"/>
                </a:solidFill>
                <a:latin typeface="Arial"/>
              </a:rPr>
              <a:t>Requests: goals with budgets, plans and next steps</a:t>
            </a:r>
          </a:p>
        </p:txBody>
      </p:sp>
      <p:pic>
        <p:nvPicPr>
          <p:cNvPr id="140" name="Picture 139" descr="context-stock-deskto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3108960"/>
            <a:ext cx="2495438" cy="1600200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411480" y="4727448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606060"/>
                </a:solidFill>
                <a:latin typeface="Arial"/>
              </a:rPr>
              <a:t>Context: tiers, stock and POS connector on an offering</a:t>
            </a:r>
          </a:p>
        </p:txBody>
      </p:sp>
      <p:pic>
        <p:nvPicPr>
          <p:cNvPr id="142" name="Picture 141" descr="people-qr-desktop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17720" y="3108960"/>
            <a:ext cx="2495438" cy="1600200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4617720" y="4727448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606060"/>
                </a:solidFill>
                <a:latin typeface="Arial"/>
              </a:rPr>
              <a:t>People: the shop's QR and A2A address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411480" y="1234440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Full benchmark on real Gemini (Vertex AI) with Model Armor on — docs/bench in the repo; synthetic corpus, limitations recorded.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11480" y="1645920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Privacy attacks on a shop's agent (incl. Hinglish, encodings, injection)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492240" y="16459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0B6A3E"/>
                </a:solidFill>
                <a:latin typeface="Arial"/>
              </a:rPr>
              <a:t>100 / 100 blocked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11480" y="1947672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Paraphrased leaks (Vertex AI Gen AI evaluation autorater, 129 replies)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492240" y="194767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0B6A3E"/>
                </a:solidFill>
                <a:latin typeface="Arial"/>
              </a:rPr>
              <a:t>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11480" y="2249424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Legitimate questions answered from the listing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492240" y="224942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0B6A3E"/>
                </a:solidFill>
                <a:latin typeface="Arial"/>
              </a:rPr>
              <a:t>29 / 30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11480" y="2551176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Negotiation: feasible pairs agreed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492240" y="255117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0B6A3E"/>
                </a:solidFill>
                <a:latin typeface="Arial"/>
              </a:rPr>
              <a:t>40 / 40 · all inside both hidden limits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11480" y="2852928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Impossible pairs (budget below floor): no deal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492240" y="28529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0B6A3E"/>
                </a:solidFill>
                <a:latin typeface="Arial"/>
              </a:rPr>
              <a:t>10 / 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11480" y="3154680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Intent routing (remember / ask / find / offer / refine / chat)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492240" y="3154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0B6A3E"/>
                </a:solidFill>
                <a:latin typeface="Arial"/>
              </a:rPr>
              <a:t>120 / 120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11480" y="3456432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50 conversations started at once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492240" y="34564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0B6A3E"/>
                </a:solidFill>
                <a:latin typeface="Arial"/>
              </a:rPr>
              <a:t>50 / 50 · p50 5.8 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11480" y="3758184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Latency: understand a message · one A2A agent turn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492240" y="375818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0B6A3E"/>
                </a:solidFill>
                <a:latin typeface="Arial"/>
              </a:rPr>
              <a:t>1.0 s · 5.0 s (p50)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11480" y="4059936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Web app load (returning visit · first visit)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492240" y="40599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0B6A3E"/>
                </a:solidFill>
                <a:latin typeface="Arial"/>
              </a:rPr>
              <a:t>0.6 s · 1.5 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11480" y="4361688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Cost of the whole run (1,402 Gemini calls)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492240" y="43616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0B6A3E"/>
                </a:solidFill>
                <a:latin typeface="Arial"/>
              </a:rPr>
              <a:t>≈ $1.17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11480" y="4663440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Automated tests (strict TypeScript, unit + end-to-end over real A2A)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492240" y="4663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0B6A3E"/>
                </a:solidFill>
                <a:latin typeface="Arial"/>
              </a:rPr>
              <a:t>108 / 108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411480" y="1280160"/>
            <a:ext cx="8321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202020"/>
                </a:solidFill>
                <a:latin typeface="Arial"/>
              </a:rPr>
              <a:t>What is deliberately not in the prototype: real payments (Google Pay stays in TEST mode), organisations with staff roles, a UPI settlement connector.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11480" y="2011680"/>
            <a:ext cx="83210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202020"/>
                </a:solidFill>
                <a:latin typeface="Arial"/>
              </a:rPr>
              <a:t>•  Organisations with staff roles (owner, counter staff) and shared shop agents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202020"/>
                </a:solidFill>
                <a:latin typeface="Arial"/>
              </a:rPr>
              <a:t>•  Real UPI settlement through a payment-provider connector (sandbox first); refunds and disputes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202020"/>
                </a:solidFill>
                <a:latin typeface="Arial"/>
              </a:rPr>
              <a:t>•  ONDC / Beckn adapter so Collab agents act as buyer and seller apps on India's open network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202020"/>
                </a:solidFill>
                <a:latin typeface="Arial"/>
              </a:rPr>
              <a:t>•  Hindi and Kannada interface and voice requests (Gemini Live); accessibility pass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202020"/>
                </a:solidFill>
                <a:latin typeface="Arial"/>
              </a:rPr>
              <a:t>•  Pilot with 5–10 shops in Indiranagar: pickup flow, POS partner integration, repeat orders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202020"/>
                </a:solidFill>
                <a:latin typeface="Arial"/>
              </a:rPr>
              <a:t>•  Trade-off negotiation beyond price (pickup window, variant), and group buying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Repository: https://github.com/kirav5/collab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Minutes): — to be added —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Link: https://collab-55.web.app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411480" y="2286000"/>
            <a:ext cx="8321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202020"/>
                </a:solidFill>
                <a:latin typeface="Arial"/>
              </a:rPr>
              <a:t>Try it: open the product link on a phone, start as a guest, scan a shop's QR from People, or type “I need a 500 ml steel bottle”. Two test accounts can be opened in one browser with ?as=&lt;name&gt;.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202020"/>
                </a:solidFill>
                <a:latin typeface="Arial"/>
              </a:rPr>
              <a:t>Public endpoints: /public/capabilities (versioned capabilities), /public/keys (verification keys), /a2a/&lt;handle&gt;/.well-known/agent-card.json (signed agent cards), /verify.html (offline receipt check).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202020"/>
                </a:solidFill>
                <a:latin typeface="Arial"/>
              </a:rPr>
              <a:t>Docs in the repo: PRODUCT-VISION, TECHNICAL-PRD, CURRENT-STATE, HANDOFF, REPORT-2026-10-15, bench/REPORT.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