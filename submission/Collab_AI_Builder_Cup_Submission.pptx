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fonts/font.dat" ContentType="application/x-fontdata"/>
  <Override PartName="/ppt/fonts/font2.dat" ContentType="application/x-fontdata"/>
  <Override PartName="/ppt/fonts/font3.dat" ContentType="application/x-fontdata"/>
  <Override PartName="/ppt/fonts/font4.dat" ContentType="application/x-fontdata"/>
  <Override PartName="/ppt/fonts/font5.dat" ContentType="application/x-fontdata"/>
  <Override PartName="/ppt/fonts/font6.dat" ContentType="application/x-fontdata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8cac47183b4f418f" Type="http://schemas.openxmlformats.org/officeDocument/2006/relationships/officeDocument" Target="ppt/presentation.xml"/><Relationship Id="Rda7bdcfe28624138" Type="http://schemas.openxmlformats.org/package/2006/relationships/metadata/core-properties" Target="docProps/core.xml"/><Relationship Id="Rdd9396d9f75e46aa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75f173ccaa424c29"/>
  </p:sldMasterIdLst>
  <p:notesMasterIdLst>
    <p:notesMasterId xmlns:r="http://schemas.openxmlformats.org/officeDocument/2006/relationships" r:id="R018d22e0e5cd49f1"/>
  </p:notesMasterIdLst>
  <p:sldIdLst>
    <p:sldId xmlns:r="http://schemas.openxmlformats.org/officeDocument/2006/relationships" id="256" r:id="Re5424606ece24bf3"/>
    <p:sldId xmlns:r="http://schemas.openxmlformats.org/officeDocument/2006/relationships" id="257" r:id="R536dfcb9049b4a05"/>
    <p:sldId xmlns:r="http://schemas.openxmlformats.org/officeDocument/2006/relationships" id="258" r:id="Re6bbd9dbaf8848e9"/>
    <p:sldId xmlns:r="http://schemas.openxmlformats.org/officeDocument/2006/relationships" id="259" r:id="R7c60b5f5d92f4a1e"/>
    <p:sldId xmlns:r="http://schemas.openxmlformats.org/officeDocument/2006/relationships" id="260" r:id="Rd3bd4523a2cc479b"/>
    <p:sldId xmlns:r="http://schemas.openxmlformats.org/officeDocument/2006/relationships" id="261" r:id="Raabcb0ead37f4415"/>
    <p:sldId xmlns:r="http://schemas.openxmlformats.org/officeDocument/2006/relationships" id="262" r:id="R6401ff533cb3442a"/>
    <p:sldId xmlns:r="http://schemas.openxmlformats.org/officeDocument/2006/relationships" id="263" r:id="R1932408c88fd490f"/>
    <p:sldId xmlns:ns0="http://schemas.openxmlformats.org/officeDocument/2006/relationships" id="270" ns0:id="rId27"/>
    <p:sldId xmlns:r="http://schemas.openxmlformats.org/officeDocument/2006/relationships" id="264" r:id="R48e5e01226ff41fb"/>
    <p:sldId xmlns:r="http://schemas.openxmlformats.org/officeDocument/2006/relationships" id="265" r:id="R5bc169fd78004ed4"/>
    <p:sldId xmlns:r="http://schemas.openxmlformats.org/officeDocument/2006/relationships" id="266" r:id="R0d803720f47c487f"/>
    <p:sldId xmlns:r="http://schemas.openxmlformats.org/officeDocument/2006/relationships" id="267" r:id="R39d38c687d3d4a40"/>
    <p:sldId xmlns:r="http://schemas.openxmlformats.org/officeDocument/2006/relationships" id="268" r:id="R4877a2bed8374123"/>
    <p:sldId xmlns:r="http://schemas.openxmlformats.org/officeDocument/2006/relationships" id="269" r:id="Re89048791a464efe"/>
  </p:sldIdLst>
  <p:sldSz cx="9144000" cy="5143500"/>
  <p:notesSz cx="6858000" cy="9144000"/>
  <p:embeddedFontLst>
    <p:embeddedFont>
      <p:font typeface="Google Sans Flex Medium"/>
      <p:regular xmlns:r="http://schemas.openxmlformats.org/officeDocument/2006/relationships" r:id="R18e208d3f057471e"/>
      <p:bold xmlns:r="http://schemas.openxmlformats.org/officeDocument/2006/relationships" r:id="Ra172153040af4d1d"/>
    </p:embeddedFont>
    <p:embeddedFont>
      <p:font typeface="Google Sans Flex"/>
      <p:regular xmlns:r="http://schemas.openxmlformats.org/officeDocument/2006/relationships" r:id="Rdde5bddaef3a4434"/>
      <p:bold xmlns:r="http://schemas.openxmlformats.org/officeDocument/2006/relationships" r:id="R07aecf06ad164b32"/>
    </p:embeddedFont>
    <p:embeddedFont>
      <p:font typeface="Google Sans Flex SemiBold"/>
      <p:regular xmlns:r="http://schemas.openxmlformats.org/officeDocument/2006/relationships" r:id="Re3514af1d2124da4"/>
      <p:bold xmlns:r="http://schemas.openxmlformats.org/officeDocument/2006/relationships" r:id="R05fa0964e1d442cd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<?xml version='1.0' encoding='UTF-8' standalone='yes'?>
<Relationships xmlns="http://schemas.openxmlformats.org/package/2006/relationships"><Relationship Id="R018d22e0e5cd49f1" Type="http://schemas.openxmlformats.org/officeDocument/2006/relationships/notesMaster" Target="notesMasters/notesMaster1.xml"/><Relationship Id="R03c46db19c454a24" Type="http://schemas.openxmlformats.org/officeDocument/2006/relationships/tableStyles" Target="tableStyles.xml"/><Relationship Id="R05fa0964e1d442cd" Type="http://schemas.openxmlformats.org/officeDocument/2006/relationships/font" Target="fonts/font6.dat"/><Relationship Id="R07aecf06ad164b32" Type="http://schemas.openxmlformats.org/officeDocument/2006/relationships/font" Target="fonts/font4.dat"/><Relationship Id="R0cd6e19755d94190" Type="http://schemas.openxmlformats.org/officeDocument/2006/relationships/viewProps" Target="viewProps.xml"/><Relationship Id="R0d803720f47c487f" Type="http://schemas.openxmlformats.org/officeDocument/2006/relationships/slide" Target="slides/slide11.xml"/><Relationship Id="R18e208d3f057471e" Type="http://schemas.openxmlformats.org/officeDocument/2006/relationships/font" Target="fonts/font.dat"/><Relationship Id="R1932408c88fd490f" Type="http://schemas.openxmlformats.org/officeDocument/2006/relationships/slide" Target="slides/slide8.xml"/><Relationship Id="R2da417a0d48948ae" Type="http://schemas.openxmlformats.org/officeDocument/2006/relationships/presProps" Target="presProps.xml"/><Relationship Id="R39d38c687d3d4a40" Type="http://schemas.openxmlformats.org/officeDocument/2006/relationships/slide" Target="slides/slide12.xml"/><Relationship Id="R4877a2bed8374123" Type="http://schemas.openxmlformats.org/officeDocument/2006/relationships/slide" Target="slides/slide13.xml"/><Relationship Id="R48e5e01226ff41fb" Type="http://schemas.openxmlformats.org/officeDocument/2006/relationships/slide" Target="slides/slide9.xml"/><Relationship Id="R536dfcb9049b4a05" Type="http://schemas.openxmlformats.org/officeDocument/2006/relationships/slide" Target="slides/slide2.xml"/><Relationship Id="R5bc169fd78004ed4" Type="http://schemas.openxmlformats.org/officeDocument/2006/relationships/slide" Target="slides/slide10.xml"/><Relationship Id="R6401ff533cb3442a" Type="http://schemas.openxmlformats.org/officeDocument/2006/relationships/slide" Target="slides/slide7.xml"/><Relationship Id="R75f173ccaa424c29" Type="http://schemas.openxmlformats.org/officeDocument/2006/relationships/slideMaster" Target="slideMasters/slideMaster1.xml"/><Relationship Id="R7c60b5f5d92f4a1e" Type="http://schemas.openxmlformats.org/officeDocument/2006/relationships/slide" Target="slides/slide4.xml"/><Relationship Id="Ra172153040af4d1d" Type="http://schemas.openxmlformats.org/officeDocument/2006/relationships/font" Target="fonts/font2.dat"/><Relationship Id="Raabcb0ead37f4415" Type="http://schemas.openxmlformats.org/officeDocument/2006/relationships/slide" Target="slides/slide6.xml"/><Relationship Id="Raef238d6c24a4485" Type="http://schemas.openxmlformats.org/officeDocument/2006/relationships/theme" Target="theme/theme1.xml"/><Relationship Id="Rd3bd4523a2cc479b" Type="http://schemas.openxmlformats.org/officeDocument/2006/relationships/slide" Target="slides/slide5.xml"/><Relationship Id="Rdde5bddaef3a4434" Type="http://schemas.openxmlformats.org/officeDocument/2006/relationships/font" Target="fonts/font3.dat"/><Relationship Id="Re3514af1d2124da4" Type="http://schemas.openxmlformats.org/officeDocument/2006/relationships/font" Target="fonts/font5.dat"/><Relationship Id="Re5424606ece24bf3" Type="http://schemas.openxmlformats.org/officeDocument/2006/relationships/slide" Target="slides/slide1.xml"/><Relationship Id="Re6bbd9dbaf8848e9" Type="http://schemas.openxmlformats.org/officeDocument/2006/relationships/slide" Target="slides/slide3.xml"/><Relationship Id="Re89048791a464efe" Type="http://schemas.openxmlformats.org/officeDocument/2006/relationships/slide" Target="slides/slide14.xml"/><Relationship Id="rId27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1b09b93c8c7847ec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353e621bcefe4af4" Type="http://schemas.openxmlformats.org/officeDocument/2006/relationships/slide" Target="../slides/slide1.xml"/><Relationship Id="R703e07ee99924005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2dfd5e8b9c6d4036" Type="http://schemas.openxmlformats.org/officeDocument/2006/relationships/notesMaster" Target="../notesMasters/notesMaster1.xml"/><Relationship Id="R50d21eaf9d6d4c6a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10a47ec3cb324e2e" Type="http://schemas.openxmlformats.org/officeDocument/2006/relationships/notesMaster" Target="../notesMasters/notesMaster1.xml"/><Relationship Id="R50323218799a4118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45030a41ec8b4e93" Type="http://schemas.openxmlformats.org/officeDocument/2006/relationships/slide" Target="../slides/slide4.xml"/><Relationship Id="R8067670fef98490d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2fe54ab83c7d4099" Type="http://schemas.openxmlformats.org/officeDocument/2006/relationships/slide" Target="../slides/slide5.xml"/><Relationship Id="Re07dacb196f342c0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10cf9c22205f4195" Type="http://schemas.openxmlformats.org/officeDocument/2006/relationships/notesMaster" Target="../notesMasters/notesMaster1.xml"/><Relationship Id="R8bd22a7334284159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0c973717e606448c" Type="http://schemas.openxmlformats.org/officeDocument/2006/relationships/slide" Target="../slides/slide7.xml"/><Relationship Id="R9192648ee7004ac6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0d01b53c42714c86" Type="http://schemas.openxmlformats.org/officeDocument/2006/relationships/slide" Target="../slides/slide8.xml"/><Relationship Id="R9d4dde79503c4c26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59faf9b6701e488a" Type="http://schemas.openxmlformats.org/officeDocument/2006/relationships/notesMaster" Target="../notesMasters/notesMaster1.xml"/><Relationship Id="R91c7c7a2727649fc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347c39d29ae444e9" Type="http://schemas.openxmlformats.org/officeDocument/2006/relationships/notesMaster" Target="../notesMasters/notesMaster1.xml"/><Relationship Id="R67685fae8c484399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67786564e3044bc6" Type="http://schemas.openxmlformats.org/officeDocument/2006/relationships/notesMaster" Target="../notesMasters/notesMaster1.xml"/><Relationship Id="Rdcf71a8c89bf4303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2542ee9e5dbd4bc9" Type="http://schemas.openxmlformats.org/officeDocument/2006/relationships/slide" Target="../slides/slide12.xml"/><Relationship Id="R32fc5d8a1045491c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01c810fefd8144ef" Type="http://schemas.openxmlformats.org/officeDocument/2006/relationships/notesMaster" Target="../notesMasters/notesMaster1.xml"/><Relationship Id="Ra8a77d99745f45aa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edf9dfdd11934380" Type="http://schemas.openxmlformats.org/officeDocument/2006/relationships/slide" Target="../slides/slide14.xml"/><Relationship Id="Rf5cbf52442a5463c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Team name and leader verified in the signed-in Hack2skill Team Management dashboard on 15 Oct 2026. Product problem and scope: README.md and SUBMISSION.md.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Product: https://collab-55.web.app. “Payment” means AP2-inspired test mode; no money moves. Signatures are issued by Collab’s server on behalf of its agents.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Retail &amp; Commerce challenge includes conversational commerce and product discovery: https://aibuildercup.com/themes.html. Collab does not claim agent shopping, QR pickup or public-key signatures are individually novel.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Implemented paths and limitations: README.md; HANDOFF.md. Fair-price results are private hints, not certified sale prices. The public pickup URL is a bearer pass and a copied code could be presented first.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Automated end-to-end test: server/test/e2e.test.ts. Production live check on 15 Oct paid a ₹410 listing-origin deal in test mode and opened its public pickup pass. Seller collection for that live deal remained untested without the seller session.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Based on deployed product UI at https://collab-55.web.app on 15 Oct 2026. This slide is a wireframe, not a browser screenshot.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Architecture source: README.md and docs/HANDOFF.md. Deployed on GCP project collab-55. Private facts and limits are stored server-side; “Private” means policy excludes them from counterparty messages.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Implementation references: README.md, server/src and deploy.sh. AP2 payment objects are custom, AP2-inspired test-mode objects; conformance is not claimed.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Measured benchmark: docs/bench/REPORT.md. Run used real Vertex AI Gemini and an in-memory store on a local server. The model meter estimated USD 1.098 for 1,402 calls. No monthly forecast is claimed.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Live checks on 15 Oct 2026: buyer @anu-buyer paid listing-origin engagement mv6w7ww56k2lli70 (test mode), public pickup status displayed “Not collected yet”, logged-out receipt page verified the new Ed25519 attestation. Existing cart/payment signatures predated migration and are HMAC; seller redemption was not performed live.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Full raw data and caveats: docs/bench/REPORT.md and docs/bench/full-local-gemini/results.json. 50 negotiation runs: 38 agreements, 11 failures, 1 error. 39 pairs were feasible, 10 infeasible and one request draft failed. Privacy probe detector checked literal canaries, not paraphrased leaks.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Eligibility needs organizer clarification because the official FAQ excludes projects based on pre-existing work: https://aibuildercup.com/Faqs.html. The repo README and HANDOFF disclose reused native logic. Future features on this slide are plans, not current capabilities.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Hack2skill submission form asks for an accessible public repository, a 3–4 minute video and a deployed prototype URL. The video link has not been supplied; do not submit this deck without filling it. The repo has local commits ahead of origin/main and must be pushed with the owner’s permission before judging.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Implementation references: server/src/core (pickup pass, receipts, armor, deals) and web/verify.html. Payments are simulated test-mode objects; no real money moves.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7180068e65124edb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c2a702ee154e40f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59b38c6fe6f46b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7dd13953ec944e14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c94b8b708165420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e07afa1794d1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307113869eb743e7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2f366371d3624a02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222ee4eb0ef44978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82b26cf34b4e4fa3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c8a08b238f8c4a94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DC795C30-CAF3-4E6B-BED1-888DD16034E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2604938E-6865-4D81-91DB-025EF768D3C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A2A8CBE3-DEDE-4D7C-A746-E754073A59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8430A800-80D9-4B8F-B172-BE9309C19E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741E8AED-6B46-485F-8E0F-166612F4D0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0C6CBADA-576F-4052-BF54-4B856B5F84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27DB7BC6-AD7B-4407-AE39-323BE1BD24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85B10168-259B-4431-937C-55042E3ABAB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1251ED26-78E5-4DAD-B70F-DF04A615B9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867D2BBA-1936-4E1C-BBF8-97E860F96F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D824F89F-3594-48E6-AED3-97706156186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9C8A1E5D-6806-42D0-A9FB-4C375768B4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07071AA3-E6D7-4CC8-8081-2703FB7D15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30B0A50E-E4C8-4724-B498-4C0A40ACEE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486756BF-79FD-4CF0-A670-03F55158CA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5EB00108-D9EE-4E7C-AC06-3A5044E1D9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263EE71B-0E1E-4149-8CB6-C40CCA90915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29186A62-444A-46FB-B45D-7ACE3C149B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628CD77A-4978-4EE7-8F4D-DDED121E96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3B16A06A-1DF7-47EC-844F-580121963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806F3327-1A34-4159-B2F1-56CFAE045C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FDD0B43E-5B79-43B6-BB61-3A0F439C414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C4F7D3F1-6774-4CCF-A8B3-3F0B25A8F69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A13AE9D3-2B8B-418A-86FF-892808A98C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FDA8DAD5-CB51-409B-A9CB-9C0E332547F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43BD9709-4998-48E6-8089-29738EC323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AA912FFA-AE83-4AEB-831C-D8BFDD02F6E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48BD6B9A-134E-4B05-8CD2-3852F69CAF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C742D954-C8F5-4FEA-B022-5CEA78B093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FCCAF7DA-3AE1-4ABA-A65E-983402699B3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8274b717b2d4682" Type="http://schemas.openxmlformats.org/officeDocument/2006/relationships/slideLayout" Target="../slideLayouts/slideLayout4.xml"/><Relationship Id="R0e19bc75f6254818" Type="http://schemas.openxmlformats.org/officeDocument/2006/relationships/slideLayout" Target="../slideLayouts/slideLayout3.xml"/><Relationship Id="R27c7da669e7d4a03" Type="http://schemas.openxmlformats.org/officeDocument/2006/relationships/slideLayout" Target="../slideLayouts/slideLayout2.xml"/><Relationship Id="R34958978def0436a" Type="http://schemas.openxmlformats.org/officeDocument/2006/relationships/slideLayout" Target="../slideLayouts/slideLayout11.xml"/><Relationship Id="R463e271df17f4981" Type="http://schemas.openxmlformats.org/officeDocument/2006/relationships/slideLayout" Target="../slideLayouts/slideLayout9.xml"/><Relationship Id="R4e01b82dd4f84780" Type="http://schemas.openxmlformats.org/officeDocument/2006/relationships/slideLayout" Target="../slideLayouts/slideLayout1.xml"/><Relationship Id="R63262d26e2ca4466" Type="http://schemas.openxmlformats.org/officeDocument/2006/relationships/slideLayout" Target="../slideLayouts/slideLayout5.xml"/><Relationship Id="R6ebf37f0322647e7" Type="http://schemas.openxmlformats.org/officeDocument/2006/relationships/slideLayout" Target="../slideLayouts/slideLayout7.xml"/><Relationship Id="R7d1a1889828846e0" Type="http://schemas.openxmlformats.org/officeDocument/2006/relationships/slideLayout" Target="../slideLayouts/slideLayout6.xml"/><Relationship Id="R855ea11a450a4136" Type="http://schemas.openxmlformats.org/officeDocument/2006/relationships/theme" Target="theme/theme2.xml"/><Relationship Id="R8ea7a80ce92248bf" Type="http://schemas.openxmlformats.org/officeDocument/2006/relationships/slideLayout" Target="../slideLayouts/slideLayout10.xml"/><Relationship Id="Rd311723118ee44b8" Type="http://schemas.openxmlformats.org/officeDocument/2006/relationships/slideLayout" Target="../slideLayouts/slideLayout8.xml"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A34FB040-EB5A-433E-AF80-D9F8960543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5DF88488-FE71-48CA-9613-B5FADEDA338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694781BD-673F-474D-91A5-A808211D49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e01b82dd4f84780"/>
    <p:sldLayoutId xmlns:r="http://schemas.openxmlformats.org/officeDocument/2006/relationships" id="2147483650" r:id="R27c7da669e7d4a03"/>
    <p:sldLayoutId xmlns:r="http://schemas.openxmlformats.org/officeDocument/2006/relationships" id="2147483651" r:id="R0e19bc75f6254818"/>
    <p:sldLayoutId xmlns:r="http://schemas.openxmlformats.org/officeDocument/2006/relationships" id="2147483652" r:id="R08274b717b2d4682"/>
    <p:sldLayoutId xmlns:r="http://schemas.openxmlformats.org/officeDocument/2006/relationships" id="2147483653" r:id="R63262d26e2ca4466"/>
    <p:sldLayoutId xmlns:r="http://schemas.openxmlformats.org/officeDocument/2006/relationships" id="2147483654" r:id="R7d1a1889828846e0"/>
    <p:sldLayoutId xmlns:r="http://schemas.openxmlformats.org/officeDocument/2006/relationships" id="2147483655" r:id="R6ebf37f0322647e7"/>
    <p:sldLayoutId xmlns:r="http://schemas.openxmlformats.org/officeDocument/2006/relationships" id="2147483656" r:id="Rd311723118ee44b8"/>
    <p:sldLayoutId xmlns:r="http://schemas.openxmlformats.org/officeDocument/2006/relationships" id="2147483657" r:id="R463e271df17f4981"/>
    <p:sldLayoutId xmlns:r="http://schemas.openxmlformats.org/officeDocument/2006/relationships" id="2147483658" r:id="R8ea7a80ce92248bf"/>
    <p:sldLayoutId xmlns:r="http://schemas.openxmlformats.org/officeDocument/2006/relationships" id="2147483659" r:id="R34958978def0436a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38dd038be9794263" Type="http://schemas.openxmlformats.org/officeDocument/2006/relationships/notesSlide" Target="../notesSlides/notesSlide1.xml"/><Relationship Id="R57ef5b4675724899" Type="http://schemas.openxmlformats.org/officeDocument/2006/relationships/image" Target="../media/image.png"/><Relationship Id="R671af133be044228" Type="http://schemas.openxmlformats.org/officeDocument/2006/relationships/image" Target="../media/image2.png"/><Relationship Id="Raeb0f36b54ec41f3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57cbc14afdf14812" Type="http://schemas.openxmlformats.org/officeDocument/2006/relationships/notesSlide" Target="../notesSlides/notesSlide2.xml"/><Relationship Id="R781877ff94c7476a" Type="http://schemas.openxmlformats.org/officeDocument/2006/relationships/image" Target="../media/image4.png"/><Relationship Id="Ra4cb1fdb41844a37" Type="http://schemas.openxmlformats.org/officeDocument/2006/relationships/image" Target="../media/image3.png"/><Relationship Id="Rd04b88d47ca74da0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0cc14a7a3b734771" Type="http://schemas.openxmlformats.org/officeDocument/2006/relationships/notesSlide" Target="../notesSlides/notesSlide3.xml"/><Relationship Id="R49365bef3e5e4243" Type="http://schemas.openxmlformats.org/officeDocument/2006/relationships/slideLayout" Target="../slideLayouts/slideLayout1.xml"/><Relationship Id="R9dcecbd62474428a" Type="http://schemas.openxmlformats.org/officeDocument/2006/relationships/image" Target="../media/image2.png"/><Relationship Id="Rabe61a0ca1af44be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13d0365241444c1d" Type="http://schemas.openxmlformats.org/officeDocument/2006/relationships/image" Target="../media/image2.png"/><Relationship Id="R7db1e02d7c374805" Type="http://schemas.openxmlformats.org/officeDocument/2006/relationships/slideLayout" Target="../slideLayouts/slideLayout1.xml"/><Relationship Id="R90c3a5bde8b145fd" Type="http://schemas.openxmlformats.org/officeDocument/2006/relationships/image" Target="../media/image3.png"/><Relationship Id="Rd894c8172a164e2b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10f9c20762454798" Type="http://schemas.openxmlformats.org/officeDocument/2006/relationships/slideLayout" Target="../slideLayouts/slideLayout1.xml"/><Relationship Id="R87304401dea74d61" Type="http://schemas.openxmlformats.org/officeDocument/2006/relationships/image" Target="../media/image3.png"/><Relationship Id="R8c35db5a5a554338" Type="http://schemas.openxmlformats.org/officeDocument/2006/relationships/image" Target="../media/image2.png"/><Relationship Id="R9996319c05444b6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25bcfcd9328e4e2d" Type="http://schemas.openxmlformats.org/officeDocument/2006/relationships/notesSlide" Target="../notesSlides/notesSlide6.xml"/><Relationship Id="Ra3a457a99d9347b3" Type="http://schemas.openxmlformats.org/officeDocument/2006/relationships/slideLayout" Target="../slideLayouts/slideLayout1.xml"/><Relationship Id="Radd0dd5476614d95" Type="http://schemas.openxmlformats.org/officeDocument/2006/relationships/image" Target="../media/image2.png"/><Relationship Id="Rcf8a6b222f3442c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042606375ae94db3" Type="http://schemas.openxmlformats.org/officeDocument/2006/relationships/notesSlide" Target="../notesSlides/notesSlide7.xml"/><Relationship Id="R117fee83c9ee4b2b" Type="http://schemas.openxmlformats.org/officeDocument/2006/relationships/image" Target="../media/image2.png"/><Relationship Id="Rc4dee9ab28984410" Type="http://schemas.openxmlformats.org/officeDocument/2006/relationships/slideLayout" Target="../slideLayouts/slideLayout1.xml"/><Relationship Id="Re3f65a0d74b843e6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7083d47363a64b2e" Type="http://schemas.openxmlformats.org/officeDocument/2006/relationships/slideLayout" Target="../slideLayouts/slideLayout1.xml"/><Relationship Id="R7f33d52eb5954755" Type="http://schemas.openxmlformats.org/officeDocument/2006/relationships/image" Target="../media/image2.png"/><Relationship Id="Rccc3f96b337c4197" Type="http://schemas.openxmlformats.org/officeDocument/2006/relationships/image" Target="../media/image3.png"/><Relationship Id="Rf37fc46d1bfa49ff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212c670779284802" Type="http://schemas.openxmlformats.org/officeDocument/2006/relationships/image" Target="../media/image3.png"/><Relationship Id="R3ca10b6ae21e4883" Type="http://schemas.openxmlformats.org/officeDocument/2006/relationships/image" Target="../media/image2.png"/><Relationship Id="R6a749a2b1d734ee0" Type="http://schemas.openxmlformats.org/officeDocument/2006/relationships/notesSlide" Target="../notesSlides/notesSlide9.xml"/><Relationship Id="R8f01089549a04c75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0979d6d572c14ef9" Type="http://schemas.openxmlformats.org/officeDocument/2006/relationships/slideLayout" Target="../slideLayouts/slideLayout1.xml"/><Relationship Id="R79519ee31e874006" Type="http://schemas.openxmlformats.org/officeDocument/2006/relationships/image" Target="../media/image2.png"/><Relationship Id="Rd30ca69c078f4a1e" Type="http://schemas.openxmlformats.org/officeDocument/2006/relationships/image" Target="../media/image3.png"/><Relationship Id="Re42f66c738d6486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3085b78a03f04ef6" Type="http://schemas.openxmlformats.org/officeDocument/2006/relationships/notesSlide" Target="../notesSlides/notesSlide11.xml"/><Relationship Id="R4a4d9fa2dfef49ce" Type="http://schemas.openxmlformats.org/officeDocument/2006/relationships/image" Target="../media/image3.png"/><Relationship Id="Rad79405bbcff468d" Type="http://schemas.openxmlformats.org/officeDocument/2006/relationships/image" Target="../media/image2.png"/><Relationship Id="Re053032054c14752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2444becf690e41e2" Type="http://schemas.openxmlformats.org/officeDocument/2006/relationships/slideLayout" Target="../slideLayouts/slideLayout1.xml"/><Relationship Id="R6960c18a294d44bd" Type="http://schemas.openxmlformats.org/officeDocument/2006/relationships/image" Target="../media/image2.png"/><Relationship Id="R93df9a925de841a6" Type="http://schemas.openxmlformats.org/officeDocument/2006/relationships/notesSlide" Target="../notesSlides/notesSlide12.xml"/><Relationship Id="R9698732274bf4fb9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0756d7da1bb5467c" Type="http://schemas.openxmlformats.org/officeDocument/2006/relationships/hyperlink" Target="https://collab-55.web.app" TargetMode="External"/><Relationship Id="R1c514f7e65b0428a" Type="http://schemas.openxmlformats.org/officeDocument/2006/relationships/image" Target="../media/image2.png"/><Relationship Id="R44e41bca7724417c" Type="http://schemas.openxmlformats.org/officeDocument/2006/relationships/slideLayout" Target="../slideLayouts/slideLayout1.xml"/><Relationship Id="R59af9b14316846e5" Type="http://schemas.openxmlformats.org/officeDocument/2006/relationships/image" Target="../media/image3.png"/><Relationship Id="R8578c540fe8348fb" Type="http://schemas.openxmlformats.org/officeDocument/2006/relationships/notesSlide" Target="../notesSlides/notesSlide13.xml"/><Relationship Id="Rccd8f4d8b22f4b14" Type="http://schemas.openxmlformats.org/officeDocument/2006/relationships/hyperlink" Target="https://github.com/kirav5/collab" TargetMode="External"/></Relationships>
</file>

<file path=ppt/slides/_rels/slide14.xml.rels><?xml version='1.0' encoding='UTF-8' standalone='yes'?>
<Relationships xmlns="http://schemas.openxmlformats.org/package/2006/relationships"><Relationship Id="R201c876b19ed43b0" Type="http://schemas.openxmlformats.org/officeDocument/2006/relationships/notesSlide" Target="../notesSlides/notesSlide14.xml"/><Relationship Id="R2710ebb98ecf4f8a" Type="http://schemas.openxmlformats.org/officeDocument/2006/relationships/slideLayout" Target="../slideLayouts/slideLayout1.xml"/><Relationship Id="R81549936473d4494" Type="http://schemas.openxmlformats.org/officeDocument/2006/relationships/image" Target="../media/image5.png"/><Relationship Id="Ra81618014f164159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5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2" name="Google Shape;55;p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ef5b467572489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3"/>
            <a:ext cx="9144000" cy="27155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63" name="Google Shape;56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71af133be044228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7" name="team-title">
            <a:extLst xmlns:a="http://schemas.openxmlformats.org/drawingml/2006/main">
              <a:ext uri="{FF2B5EF4-FFF2-40B4-BE49-F238E27FC236}">
                <a16:creationId xmlns:a16="http://schemas.microsoft.com/office/drawing/2014/main" id="{CDFBC611-E53D-4B2D-BCAA-93E607219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91465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Team Details</a:t>
            </a:r>
          </a:p>
        </p:txBody>
      </p:sp>
      <p:sp>
        <p:nvSpPr>
          <p:cNvPr id="58" name="team-name">
            <a:extLst xmlns:a="http://schemas.openxmlformats.org/drawingml/2006/main">
              <a:ext uri="{FF2B5EF4-FFF2-40B4-BE49-F238E27FC236}">
                <a16:creationId xmlns:a16="http://schemas.microsoft.com/office/drawing/2014/main" id="{81D6229B-6103-400D-A0A0-C139668E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81375"/>
            <a:ext cx="8096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Team name: FreeWill</a:t>
            </a:r>
          </a:p>
        </p:txBody>
      </p:sp>
      <p:sp>
        <p:nvSpPr>
          <p:cNvPr id="59" name="team-leader">
            <a:extLst xmlns:a="http://schemas.openxmlformats.org/drawingml/2006/main">
              <a:ext uri="{FF2B5EF4-FFF2-40B4-BE49-F238E27FC236}">
                <a16:creationId xmlns:a16="http://schemas.microsoft.com/office/drawing/2014/main" id="{C91E29BA-E5F7-46ED-ACB6-C2D8993A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05225"/>
            <a:ext cx="8096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Team leader: Atishay Srivastava</a:t>
            </a:r>
          </a:p>
        </p:txBody>
      </p:sp>
      <p:sp>
        <p:nvSpPr>
          <p:cNvPr id="60" name="problem-label">
            <a:extLst xmlns:a="http://schemas.openxmlformats.org/drawingml/2006/main">
              <a:ext uri="{FF2B5EF4-FFF2-40B4-BE49-F238E27FC236}">
                <a16:creationId xmlns:a16="http://schemas.microsoft.com/office/drawing/2014/main" id="{65CC814F-EE5C-4509-885C-3DC8D67EF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86225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Problem statement</a:t>
            </a:r>
          </a:p>
        </p:txBody>
      </p:sp>
      <p:sp>
        <p:nvSpPr>
          <p:cNvPr id="61" name="problem">
            <a:extLst xmlns:a="http://schemas.openxmlformats.org/drawingml/2006/main">
              <a:ext uri="{FF2B5EF4-FFF2-40B4-BE49-F238E27FC236}">
                <a16:creationId xmlns:a16="http://schemas.microsoft.com/office/drawing/2014/main" id="{D078D3CD-E401-4B46-9C8A-BCB80B7B0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352925"/>
            <a:ext cx="8096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Neighbourhood shopping needs a trustworthy path from a request and private price agreement to payment proof and one physical handover.</a:t>
            </a:r>
          </a:p>
        </p:txBody>
      </p:sp>
    </p:spTree>
    <p:extLst>
      <p:ext uri="{BB962C8B-B14F-4D97-AF65-F5344CB8AC3E}">
        <p14:creationId xmlns:p14="http://schemas.microsoft.com/office/powerpoint/2010/main" val="167116754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7" name="Google Shape;69;p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cb1fdb41844a37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E8972C0F-BC05-4D86-9183-E97AD88BF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>
            <a:extLst xmlns:a="http://schemas.openxmlformats.org/drawingml/2006/main">
              <a:ext uri="{FF2B5EF4-FFF2-40B4-BE49-F238E27FC236}">
                <a16:creationId xmlns:a16="http://schemas.microsoft.com/office/drawing/2014/main" id="{02249A07-7A30-47F3-9A4D-D1F21DB1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76275"/>
            <a:ext cx="8524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61616"/>
                </a:solidFill>
                <a:latin typeface="Arial"/>
                <a:ea typeface="Arial"/>
                <a:cs typeface="Arial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73" name="idea-head">
            <a:extLst xmlns:a="http://schemas.openxmlformats.org/drawingml/2006/main">
              <a:ext uri="{FF2B5EF4-FFF2-40B4-BE49-F238E27FC236}">
                <a16:creationId xmlns:a16="http://schemas.microsoft.com/office/drawing/2014/main" id="{7C6CC362-FD49-4A2E-8D08-AFAED3F96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24000"/>
            <a:ext cx="5286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A shopper scans a shop QR and asks in plain language.</a:t>
            </a:r>
          </a:p>
        </p:txBody>
      </p:sp>
      <p:sp>
        <p:nvSpPr>
          <p:cNvPr id="74" name="idea-copy">
            <a:extLst xmlns:a="http://schemas.openxmlformats.org/drawingml/2006/main">
              <a:ext uri="{FF2B5EF4-FFF2-40B4-BE49-F238E27FC236}">
                <a16:creationId xmlns:a16="http://schemas.microsoft.com/office/drawing/2014/main" id="{178CFF51-992E-4A3F-B50A-89625926B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90775"/>
            <a:ext cx="5286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Two personal agents clarify the request, negotiate within each owner’s private limit, and ask both people to confirm the exact deal.</a:t>
            </a:r>
          </a:p>
        </p:txBody>
      </p:sp>
      <p:sp>
        <p:nvSpPr>
          <p:cNvPr id="75" name="idea-finish">
            <a:extLst xmlns:a="http://schemas.openxmlformats.org/drawingml/2006/main">
              <a:ext uri="{FF2B5EF4-FFF2-40B4-BE49-F238E27FC236}">
                <a16:creationId xmlns:a16="http://schemas.microsoft.com/office/drawing/2014/main" id="{0BA86099-EA40-4D5F-9373-09CF9D7C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581400"/>
            <a:ext cx="7715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A simulated payment creates a pickup pass. The seller can collect it once, while anyone with the receipt link can verify Collab’s signature.</a:t>
            </a:r>
          </a:p>
        </p:txBody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1877ff94c7476a"/>
          <a:stretch xmlns:a="http://schemas.openxmlformats.org/drawingml/2006/main"/>
        </p:blipFill>
        <p:spPr>
          <a:xfrm xmlns:a="http://schemas.openxmlformats.org/drawingml/2006/main">
            <a:off x="6419850" y="1590675"/>
            <a:ext cx="1809750" cy="1809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48121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0" name="Google Shape;7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dcecbd62474428a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1" name="Google Shape;77;p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e61a0ca1af44b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778A01D1-1CDB-4AD4-B949-2314F2DD0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>
            <a:extLst xmlns:a="http://schemas.openxmlformats.org/drawingml/2006/main">
              <a:ext uri="{FF2B5EF4-FFF2-40B4-BE49-F238E27FC236}">
                <a16:creationId xmlns:a16="http://schemas.microsoft.com/office/drawing/2014/main" id="{E2AA5960-1BD5-492B-B75C-F546B894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76275"/>
            <a:ext cx="8524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61616"/>
                </a:solidFill>
                <a:latin typeface="Arial"/>
                <a:ea typeface="Arial"/>
                <a:cs typeface="Arial"/>
              </a:rPr>
              <a:t>Opportunity and difference</a:t>
            </a:r>
            <a:endParaRPr sz="1600">
              <a:latin typeface="Google Sans Flex SemiBold"/>
              <a:ea typeface="Google Sans Flex SemiBold"/>
              <a:cs typeface="Google Sans Flex SemiBold"/>
            </a:endParaRPr>
          </a:p>
        </p:txBody>
      </p:sp>
      <p:sp>
        <p:nvSpPr>
          <p:cNvPr id="82" name="opp1">
            <a:extLst xmlns:a="http://schemas.openxmlformats.org/drawingml/2006/main">
              <a:ext uri="{FF2B5EF4-FFF2-40B4-BE49-F238E27FC236}">
                <a16:creationId xmlns:a16="http://schemas.microsoft.com/office/drawing/2014/main" id="{9E114C98-B4A7-4880-B0F6-292A5BDF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04950"/>
            <a:ext cx="8048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Retail gap</a:t>
            </a:r>
          </a:p>
        </p:txBody>
      </p:sp>
      <p:sp>
        <p:nvSpPr>
          <p:cNvPr id="83" name="opp1b">
            <a:extLst xmlns:a="http://schemas.openxmlformats.org/drawingml/2006/main">
              <a:ext uri="{FF2B5EF4-FFF2-40B4-BE49-F238E27FC236}">
                <a16:creationId xmlns:a16="http://schemas.microsoft.com/office/drawing/2014/main" id="{983EE1F7-3064-4FF2-B43F-F194579F3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38325"/>
            <a:ext cx="8048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Discovery and chat do not tell a shop whether a negotiated order was paid or already handed over.</a:t>
            </a:r>
          </a:p>
        </p:txBody>
      </p:sp>
      <p:sp>
        <p:nvSpPr>
          <p:cNvPr id="84" name="r1">
            <a:extLst xmlns:a="http://schemas.openxmlformats.org/drawingml/2006/main">
              <a:ext uri="{FF2B5EF4-FFF2-40B4-BE49-F238E27FC236}">
                <a16:creationId xmlns:a16="http://schemas.microsoft.com/office/drawing/2014/main" id="{C2A2CA29-CF7F-4E5D-B374-AB030F55B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505075"/>
            <a:ext cx="8048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9B9"/>
          </a:solidFill>
          <a:ln xmlns:a="http://schemas.openxmlformats.org/drawingml/2006/main" w="0">
            <a:noFill/>
          </a:ln>
        </p:spPr>
      </p:sp>
      <p:sp>
        <p:nvSpPr>
          <p:cNvPr id="85" name="opp2">
            <a:extLst xmlns:a="http://schemas.openxmlformats.org/drawingml/2006/main">
              <a:ext uri="{FF2B5EF4-FFF2-40B4-BE49-F238E27FC236}">
                <a16:creationId xmlns:a16="http://schemas.microsoft.com/office/drawing/2014/main" id="{E45B91AA-B5F6-4BC2-BE5A-4D4A715FA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95575"/>
            <a:ext cx="8048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Collab’s approach</a:t>
            </a:r>
          </a:p>
        </p:txBody>
      </p:sp>
      <p:sp>
        <p:nvSpPr>
          <p:cNvPr id="86" name="opp2b">
            <a:extLst xmlns:a="http://schemas.openxmlformats.org/drawingml/2006/main">
              <a:ext uri="{FF2B5EF4-FFF2-40B4-BE49-F238E27FC236}">
                <a16:creationId xmlns:a16="http://schemas.microsoft.com/office/drawing/2014/main" id="{14681D3D-ACEB-4CCD-99B5-76650D797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28950"/>
            <a:ext cx="8048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Each side runs an A2A agent. Policy limits what can be shared; code rejects offers outside the owner’s limit.</a:t>
            </a:r>
          </a:p>
        </p:txBody>
      </p:sp>
      <p:sp>
        <p:nvSpPr>
          <p:cNvPr id="87" name="r2">
            <a:extLst xmlns:a="http://schemas.openxmlformats.org/drawingml/2006/main">
              <a:ext uri="{FF2B5EF4-FFF2-40B4-BE49-F238E27FC236}">
                <a16:creationId xmlns:a16="http://schemas.microsoft.com/office/drawing/2014/main" id="{4A919327-D07B-4402-991E-D4EF6B9E1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05225"/>
            <a:ext cx="8048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9B9"/>
          </a:solidFill>
          <a:ln xmlns:a="http://schemas.openxmlformats.org/drawingml/2006/main" w="0">
            <a:noFill/>
          </a:ln>
        </p:spPr>
      </p:sp>
      <p:sp>
        <p:nvSpPr>
          <p:cNvPr id="88" name="opp3">
            <a:extLst xmlns:a="http://schemas.openxmlformats.org/drawingml/2006/main">
              <a:ext uri="{FF2B5EF4-FFF2-40B4-BE49-F238E27FC236}">
                <a16:creationId xmlns:a16="http://schemas.microsoft.com/office/drawing/2014/main" id="{46AD64F5-5F64-4734-B14E-4AE720D70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867150"/>
            <a:ext cx="8048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Retail proof</a:t>
            </a:r>
          </a:p>
        </p:txBody>
      </p:sp>
      <p:sp>
        <p:nvSpPr>
          <p:cNvPr id="89" name="opp3b">
            <a:extLst xmlns:a="http://schemas.openxmlformats.org/drawingml/2006/main">
              <a:ext uri="{FF2B5EF4-FFF2-40B4-BE49-F238E27FC236}">
                <a16:creationId xmlns:a16="http://schemas.microsoft.com/office/drawing/2014/main" id="{8EB15047-F184-446F-8E62-7E8F1B46C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200525"/>
            <a:ext cx="804862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Signed test payment, public receipt verification and seller-only, one-time pickup connect the digital deal to the counter.</a:t>
            </a:r>
          </a:p>
        </p:txBody>
      </p:sp>
    </p:spTree>
    <p:extLst>
      <p:ext uri="{BB962C8B-B14F-4D97-AF65-F5344CB8AC3E}">
        <p14:creationId xmlns:p14="http://schemas.microsoft.com/office/powerpoint/2010/main" val="183148169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2" name="Google Shape;84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3d0365241444c1d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3" name="Google Shape;85;p1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c3a5bde8b145fd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6" name="Google Shape;86;p17">
            <a:extLst xmlns:a="http://schemas.openxmlformats.org/drawingml/2006/main">
              <a:ext uri="{FF2B5EF4-FFF2-40B4-BE49-F238E27FC236}">
                <a16:creationId xmlns:a16="http://schemas.microsoft.com/office/drawing/2014/main" id="{70B66968-AD02-4B1F-8863-80B438A45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>
            <a:extLst xmlns:a="http://schemas.openxmlformats.org/drawingml/2006/main">
              <a:ext uri="{FF2B5EF4-FFF2-40B4-BE49-F238E27FC236}">
                <a16:creationId xmlns:a16="http://schemas.microsoft.com/office/drawing/2014/main" id="{0A525674-4A59-408A-BB08-40AC270A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76275"/>
            <a:ext cx="8524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61616"/>
                </a:solidFill>
                <a:latin typeface="Arial"/>
                <a:ea typeface="Arial"/>
                <a:cs typeface="Arial"/>
              </a:rPr>
              <a:t>Features in the working prototype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90" name="feature-1">
            <a:extLst xmlns:a="http://schemas.openxmlformats.org/drawingml/2006/main">
              <a:ext uri="{FF2B5EF4-FFF2-40B4-BE49-F238E27FC236}">
                <a16:creationId xmlns:a16="http://schemas.microsoft.com/office/drawing/2014/main" id="{691F7F06-9A4F-498C-A503-4DF24BAB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24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Scan and ask</a:t>
            </a:r>
          </a:p>
        </p:txBody>
      </p:sp>
      <p:sp>
        <p:nvSpPr>
          <p:cNvPr id="91" name="feature-desc-1">
            <a:extLst xmlns:a="http://schemas.openxmlformats.org/drawingml/2006/main">
              <a:ext uri="{FF2B5EF4-FFF2-40B4-BE49-F238E27FC236}">
                <a16:creationId xmlns:a16="http://schemas.microsoft.com/office/drawing/2014/main" id="{17AEF404-DF08-4EC3-B3D0-6EB8B01D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47850"/>
            <a:ext cx="371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A shop QR opens its agent; Gemini helps draft the shopper’s request.</a:t>
            </a:r>
          </a:p>
        </p:txBody>
      </p:sp>
      <p:sp>
        <p:nvSpPr>
          <p:cNvPr id="92" name="feature-2">
            <a:extLst xmlns:a="http://schemas.openxmlformats.org/drawingml/2006/main">
              <a:ext uri="{FF2B5EF4-FFF2-40B4-BE49-F238E27FC236}">
                <a16:creationId xmlns:a16="http://schemas.microsoft.com/office/drawing/2014/main" id="{6E66717F-4831-413F-B46F-72770E04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581275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Discover and negotiate</a:t>
            </a:r>
          </a:p>
        </p:txBody>
      </p:sp>
      <p:sp>
        <p:nvSpPr>
          <p:cNvPr id="93" name="feature-desc-2">
            <a:extLst xmlns:a="http://schemas.openxmlformats.org/drawingml/2006/main">
              <a:ext uri="{FF2B5EF4-FFF2-40B4-BE49-F238E27FC236}">
                <a16:creationId xmlns:a16="http://schemas.microsoft.com/office/drawing/2014/main" id="{6A36EAC9-6DB7-4418-BD9E-237FCFDD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905125"/>
            <a:ext cx="371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A2A agents ask questions and make price moves inside private limits.</a:t>
            </a:r>
          </a:p>
        </p:txBody>
      </p:sp>
      <p:sp>
        <p:nvSpPr>
          <p:cNvPr id="94" name="feature-3">
            <a:extLst xmlns:a="http://schemas.openxmlformats.org/drawingml/2006/main">
              <a:ext uri="{FF2B5EF4-FFF2-40B4-BE49-F238E27FC236}">
                <a16:creationId xmlns:a16="http://schemas.microsoft.com/office/drawing/2014/main" id="{8EF930E1-7184-4907-A979-B0C75E94A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63855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Check a price</a:t>
            </a:r>
          </a:p>
        </p:txBody>
      </p:sp>
      <p:sp>
        <p:nvSpPr>
          <p:cNvPr id="95" name="feature-desc-3">
            <a:extLst xmlns:a="http://schemas.openxmlformats.org/drawingml/2006/main">
              <a:ext uri="{FF2B5EF4-FFF2-40B4-BE49-F238E27FC236}">
                <a16:creationId xmlns:a16="http://schemas.microsoft.com/office/drawing/2014/main" id="{3ABF0863-6630-4808-9643-3F10460BD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962400"/>
            <a:ext cx="371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Owner-only Google Search evidence, with a five-check daily cap.</a:t>
            </a:r>
          </a:p>
        </p:txBody>
      </p:sp>
      <p:sp>
        <p:nvSpPr>
          <p:cNvPr id="96" name="feature-4">
            <a:extLst xmlns:a="http://schemas.openxmlformats.org/drawingml/2006/main">
              <a:ext uri="{FF2B5EF4-FFF2-40B4-BE49-F238E27FC236}">
                <a16:creationId xmlns:a16="http://schemas.microsoft.com/office/drawing/2014/main" id="{3DA7E1C5-CD25-4C89-9015-11A4E44F5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24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Confirm and pay</a:t>
            </a:r>
          </a:p>
        </p:txBody>
      </p:sp>
      <p:sp>
        <p:nvSpPr>
          <p:cNvPr id="97" name="feature-desc-4">
            <a:extLst xmlns:a="http://schemas.openxmlformats.org/drawingml/2006/main">
              <a:ext uri="{FF2B5EF4-FFF2-40B4-BE49-F238E27FC236}">
                <a16:creationId xmlns:a16="http://schemas.microsoft.com/office/drawing/2014/main" id="{7EF8060B-92BB-479F-B320-BCA99080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47850"/>
            <a:ext cx="371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Both owners approve; agents sign cart and payment mandates in test mode.</a:t>
            </a:r>
          </a:p>
        </p:txBody>
      </p:sp>
      <p:sp>
        <p:nvSpPr>
          <p:cNvPr id="98" name="feature-5">
            <a:extLst xmlns:a="http://schemas.openxmlformats.org/drawingml/2006/main">
              <a:ext uri="{FF2B5EF4-FFF2-40B4-BE49-F238E27FC236}">
                <a16:creationId xmlns:a16="http://schemas.microsoft.com/office/drawing/2014/main" id="{418BAF8F-50AC-4F00-B884-475274AA1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81275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Collect once</a:t>
            </a:r>
          </a:p>
        </p:txBody>
      </p:sp>
      <p:sp>
        <p:nvSpPr>
          <p:cNvPr id="99" name="feature-desc-5">
            <a:extLst xmlns:a="http://schemas.openxmlformats.org/drawingml/2006/main">
              <a:ext uri="{FF2B5EF4-FFF2-40B4-BE49-F238E27FC236}">
                <a16:creationId xmlns:a16="http://schemas.microsoft.com/office/drawing/2014/main" id="{164560B3-AB47-4D50-A695-C6A1A431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05125"/>
            <a:ext cx="371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Buyer QR shows paid status; only the seller can mark it collected.</a:t>
            </a:r>
          </a:p>
        </p:txBody>
      </p:sp>
      <p:sp>
        <p:nvSpPr>
          <p:cNvPr id="100" name="feature-6">
            <a:extLst xmlns:a="http://schemas.openxmlformats.org/drawingml/2006/main">
              <a:ext uri="{FF2B5EF4-FFF2-40B4-BE49-F238E27FC236}">
                <a16:creationId xmlns:a16="http://schemas.microsoft.com/office/drawing/2014/main" id="{AB49C06B-4F44-4D81-ADCE-FEAF40D5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63855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Verify publicly</a:t>
            </a:r>
          </a:p>
        </p:txBody>
      </p:sp>
      <p:sp>
        <p:nvSpPr>
          <p:cNvPr id="101" name="feature-desc-6">
            <a:extLst xmlns:a="http://schemas.openxmlformats.org/drawingml/2006/main">
              <a:ext uri="{FF2B5EF4-FFF2-40B4-BE49-F238E27FC236}">
                <a16:creationId xmlns:a16="http://schemas.microsoft.com/office/drawing/2014/main" id="{2AF3F60B-DFFF-463E-84E6-0720FBBC6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962400"/>
            <a:ext cx="371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Logged-out receipt page checks Ed25519 signatures against published keys.</a:t>
            </a:r>
          </a:p>
        </p:txBody>
      </p:sp>
    </p:spTree>
    <p:extLst>
      <p:ext uri="{BB962C8B-B14F-4D97-AF65-F5344CB8AC3E}">
        <p14:creationId xmlns:p14="http://schemas.microsoft.com/office/powerpoint/2010/main" val="105429233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8" name="Google Shape;92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c35db5a5a554338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29" name="Google Shape;93;p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304401dea74d61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4" name="Google Shape;94;p18">
            <a:extLst xmlns:a="http://schemas.openxmlformats.org/drawingml/2006/main">
              <a:ext uri="{FF2B5EF4-FFF2-40B4-BE49-F238E27FC236}">
                <a16:creationId xmlns:a16="http://schemas.microsoft.com/office/drawing/2014/main" id="{16B6C8BD-9186-467C-8BA0-67273CAF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>
            <a:extLst xmlns:a="http://schemas.openxmlformats.org/drawingml/2006/main">
              <a:ext uri="{FF2B5EF4-FFF2-40B4-BE49-F238E27FC236}">
                <a16:creationId xmlns:a16="http://schemas.microsoft.com/office/drawing/2014/main" id="{A811D92A-9F5A-47FF-B689-D3196C7B8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76275"/>
            <a:ext cx="8524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61616"/>
                </a:solidFill>
                <a:latin typeface="Arial"/>
                <a:ea typeface="Arial"/>
                <a:cs typeface="Arial"/>
              </a:rPr>
              <a:t>Retail purchase process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98" name="stage-0">
            <a:extLst xmlns:a="http://schemas.openxmlformats.org/drawingml/2006/main">
              <a:ext uri="{FF2B5EF4-FFF2-40B4-BE49-F238E27FC236}">
                <a16:creationId xmlns:a16="http://schemas.microsoft.com/office/drawing/2014/main" id="{8F2E0850-7392-4A2C-9B73-95D116D0D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133600"/>
            <a:ext cx="1228725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73E8"/>
            </a:solidFill>
            <a:prstDash val="solid"/>
          </a:ln>
        </p:spPr>
      </p:sp>
      <p:sp>
        <p:nvSpPr>
          <p:cNvPr id="99" name="stage-num-0">
            <a:extLst xmlns:a="http://schemas.openxmlformats.org/drawingml/2006/main">
              <a:ext uri="{FF2B5EF4-FFF2-40B4-BE49-F238E27FC236}">
                <a16:creationId xmlns:a16="http://schemas.microsoft.com/office/drawing/2014/main" id="{10FE2122-5A92-42B1-A977-E2C8A9F50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247900"/>
            <a:ext cx="19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A73E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A73E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0" name="stage-title-0">
            <a:extLst xmlns:a="http://schemas.openxmlformats.org/drawingml/2006/main">
              <a:ext uri="{FF2B5EF4-FFF2-40B4-BE49-F238E27FC236}">
                <a16:creationId xmlns:a16="http://schemas.microsoft.com/office/drawing/2014/main" id="{FACD53E7-1A7C-4784-A397-D7141B85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52412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79037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Scan shop QR</a:t>
            </a:r>
          </a:p>
        </p:txBody>
      </p:sp>
      <p:sp>
        <p:nvSpPr>
          <p:cNvPr id="101" name="stage-desc-0">
            <a:extLst xmlns:a="http://schemas.openxmlformats.org/drawingml/2006/main">
              <a:ext uri="{FF2B5EF4-FFF2-40B4-BE49-F238E27FC236}">
                <a16:creationId xmlns:a16="http://schemas.microsoft.com/office/drawing/2014/main" id="{93EE4F30-D9EA-4D9F-8A1E-F728BE303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28925"/>
            <a:ext cx="102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Open the shop agent</a:t>
            </a:r>
          </a:p>
        </p:txBody>
      </p:sp>
      <p:sp>
        <p:nvSpPr>
          <p:cNvPr id="102" name="stage-arrow-0">
            <a:extLst xmlns:a="http://schemas.openxmlformats.org/drawingml/2006/main">
              <a:ext uri="{FF2B5EF4-FFF2-40B4-BE49-F238E27FC236}">
                <a16:creationId xmlns:a16="http://schemas.microsoft.com/office/drawing/2014/main" id="{8628CBFD-0396-46CF-AAC6-E6992E0B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600325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77777"/>
          </a:solidFill>
          <a:ln xmlns:a="http://schemas.openxmlformats.org/drawingml/2006/main" w="0">
            <a:noFill/>
          </a:ln>
        </p:spPr>
      </p:sp>
      <p:sp>
        <p:nvSpPr>
          <p:cNvPr id="103" name="stage-1">
            <a:extLst xmlns:a="http://schemas.openxmlformats.org/drawingml/2006/main">
              <a:ext uri="{FF2B5EF4-FFF2-40B4-BE49-F238E27FC236}">
                <a16:creationId xmlns:a16="http://schemas.microsoft.com/office/drawing/2014/main" id="{3BD06E5F-96F1-4F7E-A5AC-A0F05D8BD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2133600"/>
            <a:ext cx="1228725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73E8"/>
            </a:solidFill>
            <a:prstDash val="solid"/>
          </a:ln>
        </p:spPr>
      </p:sp>
      <p:sp>
        <p:nvSpPr>
          <p:cNvPr id="104" name="stage-num-1">
            <a:extLst xmlns:a="http://schemas.openxmlformats.org/drawingml/2006/main">
              <a:ext uri="{FF2B5EF4-FFF2-40B4-BE49-F238E27FC236}">
                <a16:creationId xmlns:a16="http://schemas.microsoft.com/office/drawing/2014/main" id="{05697143-FDFE-4E92-AD9A-CD3799238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47900"/>
            <a:ext cx="19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A73E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A73E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5" name="stage-title-1">
            <a:extLst xmlns:a="http://schemas.openxmlformats.org/drawingml/2006/main">
              <a:ext uri="{FF2B5EF4-FFF2-40B4-BE49-F238E27FC236}">
                <a16:creationId xmlns:a16="http://schemas.microsoft.com/office/drawing/2014/main" id="{B09BC4E4-AC70-4E64-BED0-B655BFDB3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52412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Ask</a:t>
            </a:r>
          </a:p>
        </p:txBody>
      </p:sp>
      <p:sp>
        <p:nvSpPr>
          <p:cNvPr id="106" name="stage-desc-1">
            <a:extLst xmlns:a="http://schemas.openxmlformats.org/drawingml/2006/main">
              <a:ext uri="{FF2B5EF4-FFF2-40B4-BE49-F238E27FC236}">
                <a16:creationId xmlns:a16="http://schemas.microsoft.com/office/drawing/2014/main" id="{11ADA18D-EDFD-4ADF-89C0-27C36A98A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828925"/>
            <a:ext cx="102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Clarify item and need</a:t>
            </a:r>
          </a:p>
        </p:txBody>
      </p:sp>
      <p:sp>
        <p:nvSpPr>
          <p:cNvPr id="107" name="stage-arrow-1">
            <a:extLst xmlns:a="http://schemas.openxmlformats.org/drawingml/2006/main">
              <a:ext uri="{FF2B5EF4-FFF2-40B4-BE49-F238E27FC236}">
                <a16:creationId xmlns:a16="http://schemas.microsoft.com/office/drawing/2014/main" id="{C63ECFAE-C6DA-4658-B486-A55F7C286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00325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77777"/>
          </a:solidFill>
          <a:ln xmlns:a="http://schemas.openxmlformats.org/drawingml/2006/main" w="0">
            <a:noFill/>
          </a:ln>
        </p:spPr>
      </p:sp>
      <p:sp>
        <p:nvSpPr>
          <p:cNvPr id="108" name="stage-2">
            <a:extLst xmlns:a="http://schemas.openxmlformats.org/drawingml/2006/main">
              <a:ext uri="{FF2B5EF4-FFF2-40B4-BE49-F238E27FC236}">
                <a16:creationId xmlns:a16="http://schemas.microsoft.com/office/drawing/2014/main" id="{ED29AB98-7BE2-4230-A58A-FC711BBE8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133600"/>
            <a:ext cx="1228725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73E8"/>
            </a:solidFill>
            <a:prstDash val="solid"/>
          </a:ln>
        </p:spPr>
      </p:sp>
      <p:sp>
        <p:nvSpPr>
          <p:cNvPr id="109" name="stage-num-2">
            <a:extLst xmlns:a="http://schemas.openxmlformats.org/drawingml/2006/main">
              <a:ext uri="{FF2B5EF4-FFF2-40B4-BE49-F238E27FC236}">
                <a16:creationId xmlns:a16="http://schemas.microsoft.com/office/drawing/2014/main" id="{D6172FB1-64E4-4C09-8844-F1AC74D6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247900"/>
            <a:ext cx="19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A73E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A73E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0" name="stage-title-2">
            <a:extLst xmlns:a="http://schemas.openxmlformats.org/drawingml/2006/main">
              <a:ext uri="{FF2B5EF4-FFF2-40B4-BE49-F238E27FC236}">
                <a16:creationId xmlns:a16="http://schemas.microsoft.com/office/drawing/2014/main" id="{BFA20D2D-169B-4E80-8A83-C1288217C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52412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Offer</a:t>
            </a:r>
          </a:p>
        </p:txBody>
      </p:sp>
      <p:sp>
        <p:nvSpPr>
          <p:cNvPr id="111" name="stage-desc-2">
            <a:extLst xmlns:a="http://schemas.openxmlformats.org/drawingml/2006/main">
              <a:ext uri="{FF2B5EF4-FFF2-40B4-BE49-F238E27FC236}">
                <a16:creationId xmlns:a16="http://schemas.microsoft.com/office/drawing/2014/main" id="{ACE760A9-1D2B-484C-A54A-898D5D4D8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828925"/>
            <a:ext cx="102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Agents negotiate</a:t>
            </a:r>
          </a:p>
        </p:txBody>
      </p:sp>
      <p:sp>
        <p:nvSpPr>
          <p:cNvPr id="112" name="stage-arrow-2">
            <a:extLst xmlns:a="http://schemas.openxmlformats.org/drawingml/2006/main">
              <a:ext uri="{FF2B5EF4-FFF2-40B4-BE49-F238E27FC236}">
                <a16:creationId xmlns:a16="http://schemas.microsoft.com/office/drawing/2014/main" id="{A0BF2384-E177-4B09-BA73-C5B6FAAAD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600325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77777"/>
          </a:solidFill>
          <a:ln xmlns:a="http://schemas.openxmlformats.org/drawingml/2006/main" w="0">
            <a:noFill/>
          </a:ln>
        </p:spPr>
      </p:sp>
      <p:sp>
        <p:nvSpPr>
          <p:cNvPr id="113" name="stage-3">
            <a:extLst xmlns:a="http://schemas.openxmlformats.org/drawingml/2006/main">
              <a:ext uri="{FF2B5EF4-FFF2-40B4-BE49-F238E27FC236}">
                <a16:creationId xmlns:a16="http://schemas.microsoft.com/office/drawing/2014/main" id="{6C200644-C9F3-4AC9-AE2F-62EA3382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133600"/>
            <a:ext cx="1228725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73E8"/>
            </a:solidFill>
            <a:prstDash val="solid"/>
          </a:ln>
        </p:spPr>
      </p:sp>
      <p:sp>
        <p:nvSpPr>
          <p:cNvPr id="114" name="stage-num-3">
            <a:extLst xmlns:a="http://schemas.openxmlformats.org/drawingml/2006/main">
              <a:ext uri="{FF2B5EF4-FFF2-40B4-BE49-F238E27FC236}">
                <a16:creationId xmlns:a16="http://schemas.microsoft.com/office/drawing/2014/main" id="{BD292C69-1C94-4660-B796-746E39F1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247900"/>
            <a:ext cx="19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A73E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A73E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15" name="stage-title-3">
            <a:extLst xmlns:a="http://schemas.openxmlformats.org/drawingml/2006/main">
              <a:ext uri="{FF2B5EF4-FFF2-40B4-BE49-F238E27FC236}">
                <a16:creationId xmlns:a16="http://schemas.microsoft.com/office/drawing/2014/main" id="{1F442E7F-E098-4D5B-820C-E2C736965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52412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Confirm</a:t>
            </a:r>
          </a:p>
        </p:txBody>
      </p:sp>
      <p:sp>
        <p:nvSpPr>
          <p:cNvPr id="116" name="stage-desc-3">
            <a:extLst xmlns:a="http://schemas.openxmlformats.org/drawingml/2006/main">
              <a:ext uri="{FF2B5EF4-FFF2-40B4-BE49-F238E27FC236}">
                <a16:creationId xmlns:a16="http://schemas.microsoft.com/office/drawing/2014/main" id="{51001F3F-C370-4DB2-A662-77F3A392B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828925"/>
            <a:ext cx="102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Both owners agree</a:t>
            </a:r>
          </a:p>
        </p:txBody>
      </p:sp>
      <p:sp>
        <p:nvSpPr>
          <p:cNvPr id="117" name="stage-arrow-3">
            <a:extLst xmlns:a="http://schemas.openxmlformats.org/drawingml/2006/main">
              <a:ext uri="{FF2B5EF4-FFF2-40B4-BE49-F238E27FC236}">
                <a16:creationId xmlns:a16="http://schemas.microsoft.com/office/drawing/2014/main" id="{C4403FC6-4BF1-45F1-B2AA-54935ACF1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600325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77777"/>
          </a:solidFill>
          <a:ln xmlns:a="http://schemas.openxmlformats.org/drawingml/2006/main" w="0">
            <a:noFill/>
          </a:ln>
        </p:spPr>
      </p:sp>
      <p:sp>
        <p:nvSpPr>
          <p:cNvPr id="118" name="stage-4">
            <a:extLst xmlns:a="http://schemas.openxmlformats.org/drawingml/2006/main">
              <a:ext uri="{FF2B5EF4-FFF2-40B4-BE49-F238E27FC236}">
                <a16:creationId xmlns:a16="http://schemas.microsoft.com/office/drawing/2014/main" id="{A072968C-3F55-4628-BC83-F9651B3F4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133600"/>
            <a:ext cx="1228725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73E8"/>
            </a:solidFill>
            <a:prstDash val="solid"/>
          </a:ln>
        </p:spPr>
      </p:sp>
      <p:sp>
        <p:nvSpPr>
          <p:cNvPr id="119" name="stage-num-4">
            <a:extLst xmlns:a="http://schemas.openxmlformats.org/drawingml/2006/main">
              <a:ext uri="{FF2B5EF4-FFF2-40B4-BE49-F238E27FC236}">
                <a16:creationId xmlns:a16="http://schemas.microsoft.com/office/drawing/2014/main" id="{9F57D761-1B7F-4151-8A72-3AECCF8B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47900"/>
            <a:ext cx="19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A73E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A73E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20" name="stage-title-4">
            <a:extLst xmlns:a="http://schemas.openxmlformats.org/drawingml/2006/main">
              <a:ext uri="{FF2B5EF4-FFF2-40B4-BE49-F238E27FC236}">
                <a16:creationId xmlns:a16="http://schemas.microsoft.com/office/drawing/2014/main" id="{8D6C937C-7A85-4C80-A9D0-7DB8A10B9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52412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Pay</a:t>
            </a:r>
          </a:p>
        </p:txBody>
      </p:sp>
      <p:sp>
        <p:nvSpPr>
          <p:cNvPr id="121" name="stage-desc-4">
            <a:extLst xmlns:a="http://schemas.openxmlformats.org/drawingml/2006/main">
              <a:ext uri="{FF2B5EF4-FFF2-40B4-BE49-F238E27FC236}">
                <a16:creationId xmlns:a16="http://schemas.microsoft.com/office/drawing/2014/main" id="{407C3B15-A2F6-452D-B2B0-B46287B45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828925"/>
            <a:ext cx="102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Simulated mandate</a:t>
            </a:r>
          </a:p>
        </p:txBody>
      </p:sp>
      <p:sp>
        <p:nvSpPr>
          <p:cNvPr id="122" name="stage-arrow-4">
            <a:extLst xmlns:a="http://schemas.openxmlformats.org/drawingml/2006/main">
              <a:ext uri="{FF2B5EF4-FFF2-40B4-BE49-F238E27FC236}">
                <a16:creationId xmlns:a16="http://schemas.microsoft.com/office/drawing/2014/main" id="{3E540521-EF6A-4C46-9A37-8445A40F2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600325"/>
            <a:ext cx="1714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77777"/>
          </a:solidFill>
          <a:ln xmlns:a="http://schemas.openxmlformats.org/drawingml/2006/main" w="0">
            <a:noFill/>
          </a:ln>
        </p:spPr>
      </p:sp>
      <p:sp>
        <p:nvSpPr>
          <p:cNvPr id="123" name="stage-5">
            <a:extLst xmlns:a="http://schemas.openxmlformats.org/drawingml/2006/main">
              <a:ext uri="{FF2B5EF4-FFF2-40B4-BE49-F238E27FC236}">
                <a16:creationId xmlns:a16="http://schemas.microsoft.com/office/drawing/2014/main" id="{F9A9E7C0-1810-4E53-840F-4D048DD60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2133600"/>
            <a:ext cx="1228725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8038"/>
            </a:solidFill>
            <a:prstDash val="solid"/>
          </a:ln>
        </p:spPr>
      </p:sp>
      <p:sp>
        <p:nvSpPr>
          <p:cNvPr id="124" name="stage-num-5">
            <a:extLst xmlns:a="http://schemas.openxmlformats.org/drawingml/2006/main">
              <a:ext uri="{FF2B5EF4-FFF2-40B4-BE49-F238E27FC236}">
                <a16:creationId xmlns:a16="http://schemas.microsoft.com/office/drawing/2014/main" id="{11452E47-DE13-4815-A2B9-39DB79B6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247900"/>
            <a:ext cx="19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803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803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25" name="stage-title-5">
            <a:extLst xmlns:a="http://schemas.openxmlformats.org/drawingml/2006/main">
              <a:ext uri="{FF2B5EF4-FFF2-40B4-BE49-F238E27FC236}">
                <a16:creationId xmlns:a16="http://schemas.microsoft.com/office/drawing/2014/main" id="{A2623848-1965-4F66-8948-7C15736F2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52412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Collect</a:t>
            </a:r>
          </a:p>
        </p:txBody>
      </p:sp>
      <p:sp>
        <p:nvSpPr>
          <p:cNvPr id="126" name="stage-desc-5">
            <a:extLst xmlns:a="http://schemas.openxmlformats.org/drawingml/2006/main">
              <a:ext uri="{FF2B5EF4-FFF2-40B4-BE49-F238E27FC236}">
                <a16:creationId xmlns:a16="http://schemas.microsoft.com/office/drawing/2014/main" id="{5B2655B1-5804-4521-8453-6C68BD120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828925"/>
            <a:ext cx="102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Seller redeems once</a:t>
            </a:r>
          </a:p>
        </p:txBody>
      </p:sp>
      <p:sp>
        <p:nvSpPr>
          <p:cNvPr id="127" name="process-proof">
            <a:extLst xmlns:a="http://schemas.openxmlformats.org/drawingml/2006/main">
              <a:ext uri="{FF2B5EF4-FFF2-40B4-BE49-F238E27FC236}">
                <a16:creationId xmlns:a16="http://schemas.microsoft.com/office/drawing/2014/main" id="{8B1895C5-4485-42CE-AFAE-75A76E107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714750"/>
            <a:ext cx="8096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The receipt binds the item, amount, people and agreement time. A second pickup scan displays the original collection time.</a:t>
            </a:r>
          </a:p>
        </p:txBody>
      </p:sp>
    </p:spTree>
    <p:extLst>
      <p:ext uri="{BB962C8B-B14F-4D97-AF65-F5344CB8AC3E}">
        <p14:creationId xmlns:p14="http://schemas.microsoft.com/office/powerpoint/2010/main" val="28137536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3" name="Google Shape;100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dd0dd5476614d95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24" name="Google Shape;101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8a6b222f3442c3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2" name="Google Shape;102;p19">
            <a:extLst xmlns:a="http://schemas.openxmlformats.org/drawingml/2006/main">
              <a:ext uri="{FF2B5EF4-FFF2-40B4-BE49-F238E27FC236}">
                <a16:creationId xmlns:a16="http://schemas.microsoft.com/office/drawing/2014/main" id="{C2D54BC6-E114-4E6F-BF04-4BB50437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>
            <a:extLst xmlns:a="http://schemas.openxmlformats.org/drawingml/2006/main">
              <a:ext uri="{FF2B5EF4-FFF2-40B4-BE49-F238E27FC236}">
                <a16:creationId xmlns:a16="http://schemas.microsoft.com/office/drawing/2014/main" id="{A81A5A94-3356-4DCF-BB3B-E765538EF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76275"/>
            <a:ext cx="8524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61616"/>
                </a:solidFill>
                <a:latin typeface="Arial"/>
                <a:ea typeface="Arial"/>
                <a:cs typeface="Arial"/>
              </a:rPr>
              <a:t>Shopper and counter wireframes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06" name="buyer-wireframe">
            <a:extLst xmlns:a="http://schemas.openxmlformats.org/drawingml/2006/main">
              <a:ext uri="{FF2B5EF4-FFF2-40B4-BE49-F238E27FC236}">
                <a16:creationId xmlns:a16="http://schemas.microsoft.com/office/drawing/2014/main" id="{26F6E57D-FFA3-4C78-B888-B18A8256C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38275"/>
            <a:ext cx="5019675" cy="3095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13131"/>
            </a:solidFill>
            <a:prstDash val="solid"/>
          </a:ln>
        </p:spPr>
      </p:sp>
      <p:sp>
        <p:nvSpPr>
          <p:cNvPr id="107" name="buyer-top">
            <a:extLst xmlns:a="http://schemas.openxmlformats.org/drawingml/2006/main">
              <a:ext uri="{FF2B5EF4-FFF2-40B4-BE49-F238E27FC236}">
                <a16:creationId xmlns:a16="http://schemas.microsoft.com/office/drawing/2014/main" id="{52A5E4E6-99F7-4C93-8BF5-FBCB000CA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38275"/>
            <a:ext cx="50196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08" name="buyer-top-text">
            <a:extLst xmlns:a="http://schemas.openxmlformats.org/drawingml/2006/main">
              <a:ext uri="{FF2B5EF4-FFF2-40B4-BE49-F238E27FC236}">
                <a16:creationId xmlns:a16="http://schemas.microsoft.com/office/drawing/2014/main" id="{A8661BA8-9EDC-4C42-B2DF-528349795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33525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COLLAB     REQUESTS</a:t>
            </a:r>
          </a:p>
        </p:txBody>
      </p:sp>
      <p:sp>
        <p:nvSpPr>
          <p:cNvPr id="109" name="buyer-shop">
            <a:extLst xmlns:a="http://schemas.openxmlformats.org/drawingml/2006/main">
              <a:ext uri="{FF2B5EF4-FFF2-40B4-BE49-F238E27FC236}">
                <a16:creationId xmlns:a16="http://schemas.microsoft.com/office/drawing/2014/main" id="{FD001B8E-DBC5-4824-9279-63543447D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4286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82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Steel Bottle Store</a:t>
            </a:r>
          </a:p>
        </p:txBody>
      </p:sp>
      <p:sp>
        <p:nvSpPr>
          <p:cNvPr id="110" name="buyer-item">
            <a:extLst xmlns:a="http://schemas.openxmlformats.org/drawingml/2006/main">
              <a:ext uri="{FF2B5EF4-FFF2-40B4-BE49-F238E27FC236}">
                <a16:creationId xmlns:a16="http://schemas.microsoft.com/office/drawing/2014/main" id="{3DDC85DC-2C7E-4D55-9536-381A78A65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9825"/>
            <a:ext cx="4286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Water bottles · ₹410 each</a:t>
            </a:r>
          </a:p>
        </p:txBody>
      </p:sp>
      <p:sp>
        <p:nvSpPr>
          <p:cNvPr id="111" name="buyer-status">
            <a:extLst xmlns:a="http://schemas.openxmlformats.org/drawingml/2006/main">
              <a:ext uri="{FF2B5EF4-FFF2-40B4-BE49-F238E27FC236}">
                <a16:creationId xmlns:a16="http://schemas.microsoft.com/office/drawing/2014/main" id="{20E8D7D6-2105-4D82-89A6-63D606A05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4286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8803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8038"/>
                </a:solidFill>
                <a:latin typeface="Arial"/>
                <a:ea typeface="Arial"/>
                <a:cs typeface="Arial"/>
              </a:rPr>
              <a:t>✓ Paid (test mode)</a:t>
            </a:r>
          </a:p>
        </p:txBody>
      </p:sp>
      <p:sp>
        <p:nvSpPr>
          <p:cNvPr id="112" name="buyer-qr-button">
            <a:extLst xmlns:a="http://schemas.openxmlformats.org/drawingml/2006/main">
              <a:ext uri="{FF2B5EF4-FFF2-40B4-BE49-F238E27FC236}">
                <a16:creationId xmlns:a16="http://schemas.microsoft.com/office/drawing/2014/main" id="{19ECCF61-96B5-4707-ACFB-64691331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0425"/>
            <a:ext cx="2143125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73E8"/>
            </a:solidFill>
            <a:prstDash val="solid"/>
          </a:ln>
        </p:spPr>
      </p:sp>
      <p:sp>
        <p:nvSpPr>
          <p:cNvPr id="113" name="buyer-qr-text">
            <a:extLst xmlns:a="http://schemas.openxmlformats.org/drawingml/2006/main">
              <a:ext uri="{FF2B5EF4-FFF2-40B4-BE49-F238E27FC236}">
                <a16:creationId xmlns:a16="http://schemas.microsoft.com/office/drawing/2014/main" id="{35D3CFA4-118E-40DC-A590-F5F59B3D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2425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A73E8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A73E8"/>
                </a:solidFill>
                <a:latin typeface="Arial"/>
                <a:ea typeface="Arial"/>
                <a:cs typeface="Arial"/>
              </a:rPr>
              <a:t>PICKUP PASS</a:t>
            </a:r>
          </a:p>
        </p:txBody>
      </p:sp>
      <p:sp>
        <p:nvSpPr>
          <p:cNvPr id="114" name="buyer-verify">
            <a:extLst xmlns:a="http://schemas.openxmlformats.org/drawingml/2006/main">
              <a:ext uri="{FF2B5EF4-FFF2-40B4-BE49-F238E27FC236}">
                <a16:creationId xmlns:a16="http://schemas.microsoft.com/office/drawing/2014/main" id="{16910F78-A20D-49FB-B72C-C9DCBFB2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428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View signed receipt</a:t>
            </a:r>
          </a:p>
        </p:txBody>
      </p:sp>
      <p:sp>
        <p:nvSpPr>
          <p:cNvPr id="115" name="counter-wireframe">
            <a:extLst xmlns:a="http://schemas.openxmlformats.org/drawingml/2006/main">
              <a:ext uri="{FF2B5EF4-FFF2-40B4-BE49-F238E27FC236}">
                <a16:creationId xmlns:a16="http://schemas.microsoft.com/office/drawing/2014/main" id="{CDE0429F-1848-4559-AB32-709621528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438275"/>
            <a:ext cx="2657475" cy="3095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13131"/>
            </a:solidFill>
            <a:prstDash val="solid"/>
          </a:ln>
        </p:spPr>
      </p:sp>
      <p:sp>
        <p:nvSpPr>
          <p:cNvPr id="116" name="counter-top">
            <a:extLst xmlns:a="http://schemas.openxmlformats.org/drawingml/2006/main">
              <a:ext uri="{FF2B5EF4-FFF2-40B4-BE49-F238E27FC236}">
                <a16:creationId xmlns:a16="http://schemas.microsoft.com/office/drawing/2014/main" id="{FD7D82B4-5040-483C-9E16-8E2FC3DE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438275"/>
            <a:ext cx="26574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17" name="counter-top-text">
            <a:extLst xmlns:a="http://schemas.openxmlformats.org/drawingml/2006/main">
              <a:ext uri="{FF2B5EF4-FFF2-40B4-BE49-F238E27FC236}">
                <a16:creationId xmlns:a16="http://schemas.microsoft.com/office/drawing/2014/main" id="{42B10716-18C9-48A3-A511-03532ECF2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33525"/>
            <a:ext cx="2333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PICKUP PASS</a:t>
            </a:r>
          </a:p>
        </p:txBody>
      </p:sp>
      <p:sp>
        <p:nvSpPr>
          <p:cNvPr id="118" name="counter-paid">
            <a:extLst xmlns:a="http://schemas.openxmlformats.org/drawingml/2006/main">
              <a:ext uri="{FF2B5EF4-FFF2-40B4-BE49-F238E27FC236}">
                <a16:creationId xmlns:a16="http://schemas.microsoft.com/office/drawing/2014/main" id="{68598441-B604-4A14-A14A-E348F52A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076450"/>
            <a:ext cx="2305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88038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8038"/>
                </a:solidFill>
                <a:latin typeface="Arial"/>
                <a:ea typeface="Arial"/>
                <a:cs typeface="Arial"/>
              </a:rPr>
              <a:t>✓ Paid · Not collected yet</a:t>
            </a:r>
          </a:p>
        </p:txBody>
      </p:sp>
      <p:sp>
        <p:nvSpPr>
          <p:cNvPr id="119" name="counter-item">
            <a:extLst xmlns:a="http://schemas.openxmlformats.org/drawingml/2006/main">
              <a:ext uri="{FF2B5EF4-FFF2-40B4-BE49-F238E27FC236}">
                <a16:creationId xmlns:a16="http://schemas.microsoft.com/office/drawing/2014/main" id="{6587E0D9-525D-4B75-AC88-5CA0FC283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724150"/>
            <a:ext cx="23050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Water bottles</a:t>
            </a:r>
          </a:p>
          <a:p xmlns:a="http://schemas.openxmlformats.org/drawingml/2006/main">
            <a:pPr>
              <a:defRPr sz="142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INR 410</a:t>
            </a:r>
          </a:p>
          <a:p xmlns:a="http://schemas.openxmlformats.org/drawingml/2006/main">
            <a:pPr>
              <a:defRPr sz="142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Buyer: Anu</a:t>
            </a:r>
          </a:p>
        </p:txBody>
      </p:sp>
      <p:sp>
        <p:nvSpPr>
          <p:cNvPr id="120" name="counter-button">
            <a:extLst xmlns:a="http://schemas.openxmlformats.org/drawingml/2006/main">
              <a:ext uri="{FF2B5EF4-FFF2-40B4-BE49-F238E27FC236}">
                <a16:creationId xmlns:a16="http://schemas.microsoft.com/office/drawing/2014/main" id="{D4656663-F219-4414-A6C6-130011222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800475"/>
            <a:ext cx="21336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73E8"/>
            </a:solidFill>
            <a:prstDash val="solid"/>
          </a:ln>
        </p:spPr>
      </p:sp>
      <p:sp>
        <p:nvSpPr>
          <p:cNvPr id="121" name="counter-button-text">
            <a:extLst xmlns:a="http://schemas.openxmlformats.org/drawingml/2006/main">
              <a:ext uri="{FF2B5EF4-FFF2-40B4-BE49-F238E27FC236}">
                <a16:creationId xmlns:a16="http://schemas.microsoft.com/office/drawing/2014/main" id="{E523D70B-FC3B-43D3-B9D1-E4662BB54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933825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A73E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A73E8"/>
                </a:solidFill>
                <a:latin typeface="Arial"/>
                <a:ea typeface="Arial"/>
                <a:cs typeface="Arial"/>
              </a:rPr>
              <a:t>MARK COLLECTED</a:t>
            </a:r>
          </a:p>
        </p:txBody>
      </p:sp>
      <p:sp>
        <p:nvSpPr>
          <p:cNvPr id="122" name="wireframe-note">
            <a:extLst xmlns:a="http://schemas.openxmlformats.org/drawingml/2006/main">
              <a:ext uri="{FF2B5EF4-FFF2-40B4-BE49-F238E27FC236}">
                <a16:creationId xmlns:a16="http://schemas.microsoft.com/office/drawing/2014/main" id="{505033AD-8382-425C-9879-3EEA0E368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648200"/>
            <a:ext cx="811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Editable schematic of the current UI. Payment is simulated.</a:t>
            </a:r>
          </a:p>
        </p:txBody>
      </p:sp>
    </p:spTree>
    <p:extLst>
      <p:ext uri="{BB962C8B-B14F-4D97-AF65-F5344CB8AC3E}">
        <p14:creationId xmlns:p14="http://schemas.microsoft.com/office/powerpoint/2010/main" val="88300958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0" name="Google Shape;108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7fee83c9ee4b2b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31" name="Google Shape;109;p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f65a0d74b843e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0" name="Google Shape;110;p20">
            <a:extLst xmlns:a="http://schemas.openxmlformats.org/drawingml/2006/main">
              <a:ext uri="{FF2B5EF4-FFF2-40B4-BE49-F238E27FC236}">
                <a16:creationId xmlns:a16="http://schemas.microsoft.com/office/drawing/2014/main" id="{14542B6B-3F6F-492E-8637-7A8234FF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>
            <a:extLst xmlns:a="http://schemas.openxmlformats.org/drawingml/2006/main">
              <a:ext uri="{FF2B5EF4-FFF2-40B4-BE49-F238E27FC236}">
                <a16:creationId xmlns:a16="http://schemas.microsoft.com/office/drawing/2014/main" id="{F8EBFDDF-37E0-41F9-9B46-732FEF3AD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76275"/>
            <a:ext cx="8524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61616"/>
                </a:solidFill>
                <a:latin typeface="Arial"/>
                <a:ea typeface="Arial"/>
                <a:cs typeface="Arial"/>
              </a:rPr>
              <a:t>Solution architecture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14" name="device">
            <a:extLst xmlns:a="http://schemas.openxmlformats.org/drawingml/2006/main">
              <a:ext uri="{FF2B5EF4-FFF2-40B4-BE49-F238E27FC236}">
                <a16:creationId xmlns:a16="http://schemas.microsoft.com/office/drawing/2014/main" id="{B7C6A90E-2CE7-4AAD-A463-35379B444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800225"/>
            <a:ext cx="195262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73E8"/>
            </a:solidFill>
            <a:prstDash val="solid"/>
          </a:ln>
        </p:spPr>
      </p:sp>
      <p:sp>
        <p:nvSpPr>
          <p:cNvPr id="115" name="device-head">
            <a:extLst xmlns:a="http://schemas.openxmlformats.org/drawingml/2006/main">
              <a:ext uri="{FF2B5EF4-FFF2-40B4-BE49-F238E27FC236}">
                <a16:creationId xmlns:a16="http://schemas.microsoft.com/office/drawing/2014/main" id="{952F6048-6F9F-4F04-8776-9CDF141BF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61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Buyer and seller apps</a:t>
            </a:r>
          </a:p>
        </p:txBody>
      </p:sp>
      <p:sp>
        <p:nvSpPr>
          <p:cNvPr id="116" name="device-body">
            <a:extLst xmlns:a="http://schemas.openxmlformats.org/drawingml/2006/main">
              <a:ext uri="{FF2B5EF4-FFF2-40B4-BE49-F238E27FC236}">
                <a16:creationId xmlns:a16="http://schemas.microsoft.com/office/drawing/2014/main" id="{BEE3C87E-9D40-406D-BEFF-98F84A38C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161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Firebase Auth</a:t>
            </a:r>
          </a:p>
          <a:p xmlns:a="http://schemas.openxmlformats.org/drawingml/2006/main">
            <a:pPr>
              <a:defRPr sz="13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App Check</a:t>
            </a:r>
          </a:p>
          <a:p xmlns:a="http://schemas.openxmlformats.org/drawingml/2006/main">
            <a:pPr>
              <a:defRPr sz="13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Live cards and QR</a:t>
            </a:r>
          </a:p>
        </p:txBody>
      </p:sp>
      <p:sp>
        <p:nvSpPr>
          <p:cNvPr id="117" name="a1">
            <a:extLst xmlns:a="http://schemas.openxmlformats.org/drawingml/2006/main">
              <a:ext uri="{FF2B5EF4-FFF2-40B4-BE49-F238E27FC236}">
                <a16:creationId xmlns:a16="http://schemas.microsoft.com/office/drawing/2014/main" id="{E3C7B21B-E450-49D5-9BB0-7D15DAD35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562225"/>
            <a:ext cx="4286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77777"/>
          </a:solidFill>
          <a:ln xmlns:a="http://schemas.openxmlformats.org/drawingml/2006/main" w="0">
            <a:noFill/>
          </a:ln>
        </p:spPr>
      </p:sp>
      <p:sp>
        <p:nvSpPr>
          <p:cNvPr id="118" name="run">
            <a:extLst xmlns:a="http://schemas.openxmlformats.org/drawingml/2006/main">
              <a:ext uri="{FF2B5EF4-FFF2-40B4-BE49-F238E27FC236}">
                <a16:creationId xmlns:a16="http://schemas.microsoft.com/office/drawing/2014/main" id="{91E86037-9029-439F-9FDE-E5F71932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628775"/>
            <a:ext cx="272415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61616"/>
            </a:solidFill>
            <a:prstDash val="solid"/>
          </a:ln>
        </p:spPr>
      </p:sp>
      <p:sp>
        <p:nvSpPr>
          <p:cNvPr id="119" name="run-head">
            <a:extLst xmlns:a="http://schemas.openxmlformats.org/drawingml/2006/main">
              <a:ext uri="{FF2B5EF4-FFF2-40B4-BE49-F238E27FC236}">
                <a16:creationId xmlns:a16="http://schemas.microsoft.com/office/drawing/2014/main" id="{E79398BC-3A98-49F1-9CD3-40106DE10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819275"/>
            <a:ext cx="2286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Cloud Run</a:t>
            </a:r>
          </a:p>
        </p:txBody>
      </p:sp>
      <p:sp>
        <p:nvSpPr>
          <p:cNvPr id="120" name="run-body">
            <a:extLst xmlns:a="http://schemas.openxmlformats.org/drawingml/2006/main">
              <a:ext uri="{FF2B5EF4-FFF2-40B4-BE49-F238E27FC236}">
                <a16:creationId xmlns:a16="http://schemas.microsoft.com/office/drawing/2014/main" id="{031A5041-392E-4765-90F8-0A8F7394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295525"/>
            <a:ext cx="2286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Per-person A2A agents</a:t>
            </a:r>
          </a:p>
          <a:p xmlns:a="http://schemas.openxmlformats.org/drawingml/2006/main">
            <a:pPr>
              <a:defRPr sz="13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Policy and negotiation guards</a:t>
            </a:r>
          </a:p>
          <a:p xmlns:a="http://schemas.openxmlformats.org/drawingml/2006/main">
            <a:pPr>
              <a:defRPr sz="13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Receipt, payment and pickup APIs</a:t>
            </a:r>
          </a:p>
        </p:txBody>
      </p:sp>
      <p:sp>
        <p:nvSpPr>
          <p:cNvPr id="121" name="a2">
            <a:extLst xmlns:a="http://schemas.openxmlformats.org/drawingml/2006/main">
              <a:ext uri="{FF2B5EF4-FFF2-40B4-BE49-F238E27FC236}">
                <a16:creationId xmlns:a16="http://schemas.microsoft.com/office/drawing/2014/main" id="{9A354456-E868-4712-AB84-E97DA152A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2228850"/>
            <a:ext cx="4286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77777"/>
          </a:solidFill>
          <a:ln xmlns:a="http://schemas.openxmlformats.org/drawingml/2006/main" w="0">
            <a:noFill/>
          </a:ln>
        </p:spPr>
      </p:sp>
      <p:sp>
        <p:nvSpPr>
          <p:cNvPr id="122" name="a3">
            <a:extLst xmlns:a="http://schemas.openxmlformats.org/drawingml/2006/main">
              <a:ext uri="{FF2B5EF4-FFF2-40B4-BE49-F238E27FC236}">
                <a16:creationId xmlns:a16="http://schemas.microsoft.com/office/drawing/2014/main" id="{431BB29F-530C-41C8-9974-7A788F91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3038475"/>
            <a:ext cx="4286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77777"/>
          </a:solidFill>
          <a:ln xmlns:a="http://schemas.openxmlformats.org/drawingml/2006/main" w="0">
            <a:noFill/>
          </a:ln>
        </p:spPr>
      </p:sp>
      <p:sp>
        <p:nvSpPr>
          <p:cNvPr id="123" name="vertex">
            <a:extLst xmlns:a="http://schemas.openxmlformats.org/drawingml/2006/main">
              <a:ext uri="{FF2B5EF4-FFF2-40B4-BE49-F238E27FC236}">
                <a16:creationId xmlns:a16="http://schemas.microsoft.com/office/drawing/2014/main" id="{55824727-D5F0-4D02-B6F9-16260B4CB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71650"/>
            <a:ext cx="216217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73E8"/>
            </a:solidFill>
            <a:prstDash val="solid"/>
          </a:ln>
        </p:spPr>
      </p:sp>
      <p:sp>
        <p:nvSpPr>
          <p:cNvPr id="124" name="vertex-head">
            <a:extLst xmlns:a="http://schemas.openxmlformats.org/drawingml/2006/main">
              <a:ext uri="{FF2B5EF4-FFF2-40B4-BE49-F238E27FC236}">
                <a16:creationId xmlns:a16="http://schemas.microsoft.com/office/drawing/2014/main" id="{6884EAF8-2A5D-4A58-A2D5-4100C74DA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885950"/>
            <a:ext cx="1866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Vertex AI</a:t>
            </a:r>
          </a:p>
        </p:txBody>
      </p:sp>
      <p:sp>
        <p:nvSpPr>
          <p:cNvPr id="125" name="vertex-body">
            <a:extLst xmlns:a="http://schemas.openxmlformats.org/drawingml/2006/main">
              <a:ext uri="{FF2B5EF4-FFF2-40B4-BE49-F238E27FC236}">
                <a16:creationId xmlns:a16="http://schemas.microsoft.com/office/drawing/2014/main" id="{6D05D1A9-3B74-4687-AADD-C0841EC7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209800"/>
            <a:ext cx="1866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Gemini + embeddings</a:t>
            </a:r>
          </a:p>
          <a:p xmlns:a="http://schemas.openxmlformats.org/drawingml/2006/main">
            <a:pPr>
              <a:defRPr sz="12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Google Search grounding</a:t>
            </a:r>
          </a:p>
        </p:txBody>
      </p:sp>
      <p:sp>
        <p:nvSpPr>
          <p:cNvPr id="126" name="firestore">
            <a:extLst xmlns:a="http://schemas.openxmlformats.org/drawingml/2006/main">
              <a:ext uri="{FF2B5EF4-FFF2-40B4-BE49-F238E27FC236}">
                <a16:creationId xmlns:a16="http://schemas.microsoft.com/office/drawing/2014/main" id="{3A334BA2-2C5C-4955-876E-B12436B90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76550"/>
            <a:ext cx="216217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8038"/>
            </a:solidFill>
            <a:prstDash val="solid"/>
          </a:ln>
        </p:spPr>
      </p:sp>
      <p:sp>
        <p:nvSpPr>
          <p:cNvPr id="127" name="fs-head">
            <a:extLst xmlns:a="http://schemas.openxmlformats.org/drawingml/2006/main">
              <a:ext uri="{FF2B5EF4-FFF2-40B4-BE49-F238E27FC236}">
                <a16:creationId xmlns:a16="http://schemas.microsoft.com/office/drawing/2014/main" id="{A8B6C46E-D091-44A7-A48F-3A27488E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990850"/>
            <a:ext cx="1866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Firestore</a:t>
            </a:r>
          </a:p>
        </p:txBody>
      </p:sp>
      <p:sp>
        <p:nvSpPr>
          <p:cNvPr id="128" name="fs-body">
            <a:extLst xmlns:a="http://schemas.openxmlformats.org/drawingml/2006/main">
              <a:ext uri="{FF2B5EF4-FFF2-40B4-BE49-F238E27FC236}">
                <a16:creationId xmlns:a16="http://schemas.microsoft.com/office/drawing/2014/main" id="{288FED54-0C55-4FFC-8970-B33F2D4F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314700"/>
            <a:ext cx="1866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Profiles, deals, receipts</a:t>
            </a:r>
          </a:p>
          <a:p xmlns:a="http://schemas.openxmlformats.org/drawingml/2006/main">
            <a:pPr>
              <a:defRPr sz="12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Atomic pickup state</a:t>
            </a:r>
          </a:p>
        </p:txBody>
      </p:sp>
      <p:sp>
        <p:nvSpPr>
          <p:cNvPr id="129" name="infra">
            <a:extLst xmlns:a="http://schemas.openxmlformats.org/drawingml/2006/main">
              <a:ext uri="{FF2B5EF4-FFF2-40B4-BE49-F238E27FC236}">
                <a16:creationId xmlns:a16="http://schemas.microsoft.com/office/drawing/2014/main" id="{152F68EF-2B29-4DD8-B6BA-262BD2D0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0"/>
            <a:ext cx="8096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Firebase Hosting and Cloud Messaging serve the app; Cloud Scheduler runs due watches; Secret Manager holds signing keys.</a:t>
            </a:r>
          </a:p>
        </p:txBody>
      </p:sp>
    </p:spTree>
    <p:extLst>
      <p:ext uri="{BB962C8B-B14F-4D97-AF65-F5344CB8AC3E}">
        <p14:creationId xmlns:p14="http://schemas.microsoft.com/office/powerpoint/2010/main" val="54047360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9" name="Google Shape;116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f33d52eb5954755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0" name="Google Shape;117;p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c3f96b337c4197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8" name="Google Shape;118;p21">
            <a:extLst xmlns:a="http://schemas.openxmlformats.org/drawingml/2006/main">
              <a:ext uri="{FF2B5EF4-FFF2-40B4-BE49-F238E27FC236}">
                <a16:creationId xmlns:a16="http://schemas.microsoft.com/office/drawing/2014/main" id="{9EF68703-150C-45C8-9ACC-F41344500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>
            <a:extLst xmlns:a="http://schemas.openxmlformats.org/drawingml/2006/main">
              <a:ext uri="{FF2B5EF4-FFF2-40B4-BE49-F238E27FC236}">
                <a16:creationId xmlns:a16="http://schemas.microsoft.com/office/drawing/2014/main" id="{B2620154-F97D-4823-B57E-4E84F4609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76275"/>
            <a:ext cx="8524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61616"/>
                </a:solidFill>
                <a:latin typeface="Arial"/>
                <a:ea typeface="Arial"/>
                <a:cs typeface="Arial"/>
              </a:rPr>
              <a:t>Google Cloud and protocol stack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22" name="tech-label-0">
            <a:extLst xmlns:a="http://schemas.openxmlformats.org/drawingml/2006/main">
              <a:ext uri="{FF2B5EF4-FFF2-40B4-BE49-F238E27FC236}">
                <a16:creationId xmlns:a16="http://schemas.microsoft.com/office/drawing/2014/main" id="{E2E86595-9A1C-40CD-8099-0F19F38D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95425"/>
            <a:ext cx="2714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Gemini on Vertex AI</a:t>
            </a:r>
          </a:p>
        </p:txBody>
      </p:sp>
      <p:sp>
        <p:nvSpPr>
          <p:cNvPr id="123" name="tech-desc-0">
            <a:extLst xmlns:a="http://schemas.openxmlformats.org/drawingml/2006/main">
              <a:ext uri="{FF2B5EF4-FFF2-40B4-BE49-F238E27FC236}">
                <a16:creationId xmlns:a16="http://schemas.microsoft.com/office/drawing/2014/main" id="{9A3B97DC-2EF0-484E-AE7F-C384B9320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49542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Intent, request drafting, matching, answers and price negotiation</a:t>
            </a:r>
          </a:p>
        </p:txBody>
      </p:sp>
      <p:sp>
        <p:nvSpPr>
          <p:cNvPr id="124" name="tech-rule-0">
            <a:extLst xmlns:a="http://schemas.openxmlformats.org/drawingml/2006/main">
              <a:ext uri="{FF2B5EF4-FFF2-40B4-BE49-F238E27FC236}">
                <a16:creationId xmlns:a16="http://schemas.microsoft.com/office/drawing/2014/main" id="{8035F2AF-53AD-4149-BA96-6DA97E704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43100"/>
            <a:ext cx="8048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noFill/>
          </a:ln>
        </p:spPr>
      </p:sp>
      <p:sp>
        <p:nvSpPr>
          <p:cNvPr id="125" name="tech-label-1">
            <a:extLst xmlns:a="http://schemas.openxmlformats.org/drawingml/2006/main">
              <a:ext uri="{FF2B5EF4-FFF2-40B4-BE49-F238E27FC236}">
                <a16:creationId xmlns:a16="http://schemas.microsoft.com/office/drawing/2014/main" id="{3D8AA9A0-D4F5-4AB9-BFB0-5D4D2C7A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19300"/>
            <a:ext cx="2714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Search grounding</a:t>
            </a:r>
          </a:p>
        </p:txBody>
      </p:sp>
      <p:sp>
        <p:nvSpPr>
          <p:cNvPr id="126" name="tech-desc-1">
            <a:extLst xmlns:a="http://schemas.openxmlformats.org/drawingml/2006/main">
              <a:ext uri="{FF2B5EF4-FFF2-40B4-BE49-F238E27FC236}">
                <a16:creationId xmlns:a16="http://schemas.microsoft.com/office/drawing/2014/main" id="{B9CA62AB-DFA5-4DF1-8495-079C9A7A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019300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Private price evidence with source links or abstention</a:t>
            </a:r>
          </a:p>
        </p:txBody>
      </p:sp>
      <p:sp>
        <p:nvSpPr>
          <p:cNvPr id="127" name="tech-rule-1">
            <a:extLst xmlns:a="http://schemas.openxmlformats.org/drawingml/2006/main">
              <a:ext uri="{FF2B5EF4-FFF2-40B4-BE49-F238E27FC236}">
                <a16:creationId xmlns:a16="http://schemas.microsoft.com/office/drawing/2014/main" id="{E497D52E-FE4F-4C87-A52B-46D147BD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66975"/>
            <a:ext cx="8048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noFill/>
          </a:ln>
        </p:spPr>
      </p:sp>
      <p:sp>
        <p:nvSpPr>
          <p:cNvPr id="128" name="tech-label-2">
            <a:extLst xmlns:a="http://schemas.openxmlformats.org/drawingml/2006/main">
              <a:ext uri="{FF2B5EF4-FFF2-40B4-BE49-F238E27FC236}">
                <a16:creationId xmlns:a16="http://schemas.microsoft.com/office/drawing/2014/main" id="{9B4D9DC9-413C-45DF-9FFB-FC93E63D3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543175"/>
            <a:ext cx="2714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Cloud Run + A2A SDK</a:t>
            </a:r>
          </a:p>
        </p:txBody>
      </p:sp>
      <p:sp>
        <p:nvSpPr>
          <p:cNvPr id="129" name="tech-desc-2">
            <a:extLst xmlns:a="http://schemas.openxmlformats.org/drawingml/2006/main">
              <a:ext uri="{FF2B5EF4-FFF2-40B4-BE49-F238E27FC236}">
                <a16:creationId xmlns:a16="http://schemas.microsoft.com/office/drawing/2014/main" id="{40741C20-A01B-4A49-BCAE-EC74E2C4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54317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One agent endpoint per person and the retail API</a:t>
            </a:r>
          </a:p>
        </p:txBody>
      </p:sp>
      <p:sp>
        <p:nvSpPr>
          <p:cNvPr id="130" name="tech-rule-2">
            <a:extLst xmlns:a="http://schemas.openxmlformats.org/drawingml/2006/main">
              <a:ext uri="{FF2B5EF4-FFF2-40B4-BE49-F238E27FC236}">
                <a16:creationId xmlns:a16="http://schemas.microsoft.com/office/drawing/2014/main" id="{2CF0CC9F-0828-4241-8E9E-C1666E6F7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990850"/>
            <a:ext cx="8048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noFill/>
          </a:ln>
        </p:spPr>
      </p:sp>
      <p:sp>
        <p:nvSpPr>
          <p:cNvPr id="131" name="tech-label-3">
            <a:extLst xmlns:a="http://schemas.openxmlformats.org/drawingml/2006/main">
              <a:ext uri="{FF2B5EF4-FFF2-40B4-BE49-F238E27FC236}">
                <a16:creationId xmlns:a16="http://schemas.microsoft.com/office/drawing/2014/main" id="{CE4AD4DE-932B-40D0-9CD0-4202FFA2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67050"/>
            <a:ext cx="2714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Firestore</a:t>
            </a:r>
          </a:p>
        </p:txBody>
      </p:sp>
      <p:sp>
        <p:nvSpPr>
          <p:cNvPr id="132" name="tech-desc-3">
            <a:extLst xmlns:a="http://schemas.openxmlformats.org/drawingml/2006/main">
              <a:ext uri="{FF2B5EF4-FFF2-40B4-BE49-F238E27FC236}">
                <a16:creationId xmlns:a16="http://schemas.microsoft.com/office/drawing/2014/main" id="{0933DED0-F88D-46A9-BC97-6EE1FD578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3067050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Vector search, deal records, receipt registry and pickup state</a:t>
            </a:r>
          </a:p>
        </p:txBody>
      </p:sp>
      <p:sp>
        <p:nvSpPr>
          <p:cNvPr id="133" name="tech-rule-3">
            <a:extLst xmlns:a="http://schemas.openxmlformats.org/drawingml/2006/main">
              <a:ext uri="{FF2B5EF4-FFF2-40B4-BE49-F238E27FC236}">
                <a16:creationId xmlns:a16="http://schemas.microsoft.com/office/drawing/2014/main" id="{FA8FCF0F-2A26-4DEC-86EA-9B617D75A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514725"/>
            <a:ext cx="8048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noFill/>
          </a:ln>
        </p:spPr>
      </p:sp>
      <p:sp>
        <p:nvSpPr>
          <p:cNvPr id="134" name="tech-label-4">
            <a:extLst xmlns:a="http://schemas.openxmlformats.org/drawingml/2006/main">
              <a:ext uri="{FF2B5EF4-FFF2-40B4-BE49-F238E27FC236}">
                <a16:creationId xmlns:a16="http://schemas.microsoft.com/office/drawing/2014/main" id="{98513C58-7D52-4CD6-BC55-097D8AC77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590925"/>
            <a:ext cx="2714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Firebase</a:t>
            </a:r>
          </a:p>
        </p:txBody>
      </p:sp>
      <p:sp>
        <p:nvSpPr>
          <p:cNvPr id="135" name="tech-desc-4">
            <a:extLst xmlns:a="http://schemas.openxmlformats.org/drawingml/2006/main">
              <a:ext uri="{FF2B5EF4-FFF2-40B4-BE49-F238E27FC236}">
                <a16:creationId xmlns:a16="http://schemas.microsoft.com/office/drawing/2014/main" id="{9A3151EC-6D53-47E5-84BE-28F28D23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359092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Hosting, Auth, App Check and Cloud Messaging</a:t>
            </a:r>
          </a:p>
        </p:txBody>
      </p:sp>
      <p:sp>
        <p:nvSpPr>
          <p:cNvPr id="136" name="tech-rule-4">
            <a:extLst xmlns:a="http://schemas.openxmlformats.org/drawingml/2006/main">
              <a:ext uri="{FF2B5EF4-FFF2-40B4-BE49-F238E27FC236}">
                <a16:creationId xmlns:a16="http://schemas.microsoft.com/office/drawing/2014/main" id="{757C97BA-357E-418B-A08C-2E112AD03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38600"/>
            <a:ext cx="8048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noFill/>
          </a:ln>
        </p:spPr>
      </p:sp>
      <p:sp>
        <p:nvSpPr>
          <p:cNvPr id="137" name="tech-label-5">
            <a:extLst xmlns:a="http://schemas.openxmlformats.org/drawingml/2006/main">
              <a:ext uri="{FF2B5EF4-FFF2-40B4-BE49-F238E27FC236}">
                <a16:creationId xmlns:a16="http://schemas.microsoft.com/office/drawing/2014/main" id="{C243E56E-140F-46AE-82DD-E92CE5419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14800"/>
            <a:ext cx="2714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Scheduler + Secret Manager</a:t>
            </a:r>
          </a:p>
        </p:txBody>
      </p:sp>
      <p:sp>
        <p:nvSpPr>
          <p:cNvPr id="138" name="tech-desc-5">
            <a:extLst xmlns:a="http://schemas.openxmlformats.org/drawingml/2006/main">
              <a:ext uri="{FF2B5EF4-FFF2-40B4-BE49-F238E27FC236}">
                <a16:creationId xmlns:a16="http://schemas.microsoft.com/office/drawing/2014/main" id="{BDAD8E8B-E93A-46E5-958C-21FC26561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4114800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Recurring watches and stable Ed25519 signing key</a:t>
            </a:r>
          </a:p>
        </p:txBody>
      </p:sp>
    </p:spTree>
    <p:extLst>
      <p:ext uri="{BB962C8B-B14F-4D97-AF65-F5344CB8AC3E}">
        <p14:creationId xmlns:p14="http://schemas.microsoft.com/office/powerpoint/2010/main" val="13955641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5" name="Google Shape;124;p2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ca10b6ae21e4883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36" name="Google Shape;125;p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2c670779284802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6" name="Google Shape;126;p22">
            <a:extLst xmlns:a="http://schemas.openxmlformats.org/drawingml/2006/main">
              <a:ext uri="{FF2B5EF4-FFF2-40B4-BE49-F238E27FC236}">
                <a16:creationId xmlns:a16="http://schemas.microsoft.com/office/drawing/2014/main" id="{4DD127D4-39C9-4B0B-835B-9667C17A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>
            <a:extLst xmlns:a="http://schemas.openxmlformats.org/drawingml/2006/main">
              <a:ext uri="{FF2B5EF4-FFF2-40B4-BE49-F238E27FC236}">
                <a16:creationId xmlns:a16="http://schemas.microsoft.com/office/drawing/2014/main" id="{D6477BCC-1CF9-43DA-9A50-66B6AB8F6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76275"/>
            <a:ext cx="8524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61616"/>
                </a:solidFill>
                <a:latin typeface="Arial"/>
                <a:ea typeface="Arial"/>
                <a:cs typeface="Arial"/>
              </a:rPr>
              <a:t>Prototype cost evidence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30" name="cost-big">
            <a:extLst xmlns:a="http://schemas.openxmlformats.org/drawingml/2006/main">
              <a:ext uri="{FF2B5EF4-FFF2-40B4-BE49-F238E27FC236}">
                <a16:creationId xmlns:a16="http://schemas.microsoft.com/office/drawing/2014/main" id="{A4448724-A993-44AB-BC5F-589E58BC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24000"/>
            <a:ext cx="3619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A73E8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A73E8"/>
                </a:solidFill>
                <a:latin typeface="Arial"/>
                <a:ea typeface="Arial"/>
                <a:cs typeface="Arial"/>
              </a:rPr>
              <a:t>$1.10</a:t>
            </a:r>
          </a:p>
        </p:txBody>
      </p:sp>
      <p:sp>
        <p:nvSpPr>
          <p:cNvPr id="131" name="cost-desc">
            <a:extLst xmlns:a="http://schemas.openxmlformats.org/drawingml/2006/main">
              <a:ext uri="{FF2B5EF4-FFF2-40B4-BE49-F238E27FC236}">
                <a16:creationId xmlns:a16="http://schemas.microsoft.com/office/drawing/2014/main" id="{3A8C5B21-D39A-4D74-BA4C-8778449E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33625"/>
            <a:ext cx="5905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Estimated Gemini token cost for the full local benchmark</a:t>
            </a:r>
          </a:p>
        </p:txBody>
      </p:sp>
      <p:sp>
        <p:nvSpPr>
          <p:cNvPr id="132" name="cost-rule">
            <a:extLst xmlns:a="http://schemas.openxmlformats.org/drawingml/2006/main">
              <a:ext uri="{FF2B5EF4-FFF2-40B4-BE49-F238E27FC236}">
                <a16:creationId xmlns:a16="http://schemas.microsoft.com/office/drawing/2014/main" id="{860F91EC-8300-43C6-AFDA-B11307D8B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181350"/>
            <a:ext cx="8048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9B9"/>
          </a:solidFill>
          <a:ln xmlns:a="http://schemas.openxmlformats.org/drawingml/2006/main" w="0">
            <a:noFill/>
          </a:ln>
        </p:spPr>
      </p:sp>
      <p:sp>
        <p:nvSpPr>
          <p:cNvPr id="133" name="cost-calls">
            <a:extLst xmlns:a="http://schemas.openxmlformats.org/drawingml/2006/main">
              <a:ext uri="{FF2B5EF4-FFF2-40B4-BE49-F238E27FC236}">
                <a16:creationId xmlns:a16="http://schemas.microsoft.com/office/drawing/2014/main" id="{622342BB-180E-4E3E-80D2-193ACD54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43275"/>
            <a:ext cx="7715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1,402 Gemini calls</a:t>
            </a:r>
          </a:p>
        </p:txBody>
      </p:sp>
      <p:sp>
        <p:nvSpPr>
          <p:cNvPr id="134" name="cost-caveat">
            <a:extLst xmlns:a="http://schemas.openxmlformats.org/drawingml/2006/main">
              <a:ext uri="{FF2B5EF4-FFF2-40B4-BE49-F238E27FC236}">
                <a16:creationId xmlns:a16="http://schemas.microsoft.com/office/drawing/2014/main" id="{09BCE2C3-8237-4CD3-B2FB-3D6B51E11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81425"/>
            <a:ext cx="79057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This is a token estimate, not a cloud bill. Google Search grounding, Cloud Run, Firestore and networking are excluded. Production cost depends on usage.</a:t>
            </a:r>
          </a:p>
        </p:txBody>
      </p:sp>
    </p:spTree>
    <p:extLst>
      <p:ext uri="{BB962C8B-B14F-4D97-AF65-F5344CB8AC3E}">
        <p14:creationId xmlns:p14="http://schemas.microsoft.com/office/powerpoint/2010/main" val="122325362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6" name="Google Shape;132;p2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9519ee31e874006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7" name="Google Shape;133;p2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0ca69c078f4a1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4" name="Google Shape;134;p23">
            <a:extLst xmlns:a="http://schemas.openxmlformats.org/drawingml/2006/main">
              <a:ext uri="{FF2B5EF4-FFF2-40B4-BE49-F238E27FC236}">
                <a16:creationId xmlns:a16="http://schemas.microsoft.com/office/drawing/2014/main" id="{1649D3CF-6B28-400D-B741-84EA3BF3B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>
            <a:extLst xmlns:a="http://schemas.openxmlformats.org/drawingml/2006/main">
              <a:ext uri="{FF2B5EF4-FFF2-40B4-BE49-F238E27FC236}">
                <a16:creationId xmlns:a16="http://schemas.microsoft.com/office/drawing/2014/main" id="{F9EE808A-B1C2-4A86-8714-8A792D3D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76275"/>
            <a:ext cx="8524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61616"/>
                </a:solidFill>
                <a:latin typeface="Arial"/>
                <a:ea typeface="Arial"/>
                <a:cs typeface="Arial"/>
              </a:rPr>
              <a:t>Production prototype evidence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38" name="prod-sub">
            <a:extLst xmlns:a="http://schemas.openxmlformats.org/drawingml/2006/main">
              <a:ext uri="{FF2B5EF4-FFF2-40B4-BE49-F238E27FC236}">
                <a16:creationId xmlns:a16="http://schemas.microsoft.com/office/drawing/2014/main" id="{3CBDC816-1AC0-4FAA-AC7D-6946AE30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09700"/>
            <a:ext cx="809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Paid listing-origin order on the deployed app, 15 Oct 2026</a:t>
            </a:r>
          </a:p>
        </p:txBody>
      </p:sp>
      <p:sp>
        <p:nvSpPr>
          <p:cNvPr id="139" name="prod-deal">
            <a:extLst xmlns:a="http://schemas.openxmlformats.org/drawingml/2006/main">
              <a:ext uri="{FF2B5EF4-FFF2-40B4-BE49-F238E27FC236}">
                <a16:creationId xmlns:a16="http://schemas.microsoft.com/office/drawing/2014/main" id="{6AFB6FA9-F8B7-46A3-A086-2EEF97E0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71675"/>
            <a:ext cx="3810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33333"/>
            </a:solidFill>
            <a:prstDash val="solid"/>
          </a:ln>
        </p:spPr>
      </p:sp>
      <p:sp>
        <p:nvSpPr>
          <p:cNvPr id="140" name="prod-deal-head">
            <a:extLst xmlns:a="http://schemas.openxmlformats.org/drawingml/2006/main">
              <a:ext uri="{FF2B5EF4-FFF2-40B4-BE49-F238E27FC236}">
                <a16:creationId xmlns:a16="http://schemas.microsoft.com/office/drawing/2014/main" id="{7138C8CF-1F61-4583-99C1-6EF1C2DF1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476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Buyer’s deal card</a:t>
            </a:r>
          </a:p>
        </p:txBody>
      </p:sp>
      <p:sp>
        <p:nvSpPr>
          <p:cNvPr id="141" name="prod-deal-body">
            <a:extLst xmlns:a="http://schemas.openxmlformats.org/drawingml/2006/main">
              <a:ext uri="{FF2B5EF4-FFF2-40B4-BE49-F238E27FC236}">
                <a16:creationId xmlns:a16="http://schemas.microsoft.com/office/drawing/2014/main" id="{852BCAA7-8BDD-4A3B-B353-FB8C2E4BB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0325"/>
            <a:ext cx="3476625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Steel Bottle Store</a:t>
            </a:r>
          </a:p>
          <a:p xmlns:a="http://schemas.openxmlformats.org/drawingml/2006/main">
            <a:pPr>
              <a:defRPr sz="15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Water bottles · ₹410 each</a:t>
            </a:r>
          </a:p>
          <a:p xmlns:a="http://schemas.openxmlformats.org/drawingml/2006/main">
            <a:pPr>
              <a:defRPr sz="15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✓ Paid in test mode</a:t>
            </a:r>
          </a:p>
          <a:p xmlns:a="http://schemas.openxmlformats.org/drawingml/2006/main">
            <a:pPr>
              <a:defRPr sz="15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Pickup QR available</a:t>
            </a:r>
          </a:p>
        </p:txBody>
      </p:sp>
      <p:sp>
        <p:nvSpPr>
          <p:cNvPr id="142" name="prod-pass">
            <a:extLst xmlns:a="http://schemas.openxmlformats.org/drawingml/2006/main">
              <a:ext uri="{FF2B5EF4-FFF2-40B4-BE49-F238E27FC236}">
                <a16:creationId xmlns:a16="http://schemas.microsoft.com/office/drawing/2014/main" id="{31C4EE25-418E-4781-BC65-9EF59A77A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71675"/>
            <a:ext cx="3810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33333"/>
            </a:solidFill>
            <a:prstDash val="solid"/>
          </a:ln>
        </p:spPr>
      </p:sp>
      <p:sp>
        <p:nvSpPr>
          <p:cNvPr id="143" name="prod-pass-head">
            <a:extLst xmlns:a="http://schemas.openxmlformats.org/drawingml/2006/main">
              <a:ext uri="{FF2B5EF4-FFF2-40B4-BE49-F238E27FC236}">
                <a16:creationId xmlns:a16="http://schemas.microsoft.com/office/drawing/2014/main" id="{4BFEF74F-D750-4335-8D08-909B0740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2133600"/>
            <a:ext cx="3476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Public pickup page</a:t>
            </a:r>
          </a:p>
        </p:txBody>
      </p:sp>
      <p:sp>
        <p:nvSpPr>
          <p:cNvPr id="144" name="prod-pass-body">
            <a:extLst xmlns:a="http://schemas.openxmlformats.org/drawingml/2006/main">
              <a:ext uri="{FF2B5EF4-FFF2-40B4-BE49-F238E27FC236}">
                <a16:creationId xmlns:a16="http://schemas.microsoft.com/office/drawing/2014/main" id="{4EC8260F-1303-4B1F-BCDD-15CE74D3C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2600325"/>
            <a:ext cx="3476625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✓ Paid · Not collected yet</a:t>
            </a:r>
          </a:p>
          <a:p xmlns:a="http://schemas.openxmlformats.org/drawingml/2006/main">
            <a:pPr>
              <a:defRPr sz="15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Item: Water bottles</a:t>
            </a:r>
          </a:p>
          <a:p xmlns:a="http://schemas.openxmlformats.org/drawingml/2006/main">
            <a:pPr>
              <a:defRPr sz="15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Amount: INR 410</a:t>
            </a:r>
          </a:p>
          <a:p xmlns:a="http://schemas.openxmlformats.org/drawingml/2006/main">
            <a:pPr>
              <a:defRPr sz="15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Buyer: Anu</a:t>
            </a:r>
          </a:p>
        </p:txBody>
      </p:sp>
      <p:sp>
        <p:nvSpPr>
          <p:cNvPr id="145" name="prod-note">
            <a:extLst xmlns:a="http://schemas.openxmlformats.org/drawingml/2006/main">
              <a:ext uri="{FF2B5EF4-FFF2-40B4-BE49-F238E27FC236}">
                <a16:creationId xmlns:a16="http://schemas.microsoft.com/office/drawing/2014/main" id="{80439488-5AA4-4426-8689-627B66627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305300"/>
            <a:ext cx="8048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Schematic reconstruction of the live screens. The public receipt page verified a Collab-issued Ed25519 attestation; this older order’s payment signatures are legacy HMAC.</a:t>
            </a:r>
          </a:p>
        </p:txBody>
      </p:sp>
    </p:spTree>
    <p:extLst>
      <p:ext uri="{BB962C8B-B14F-4D97-AF65-F5344CB8AC3E}">
        <p14:creationId xmlns:p14="http://schemas.microsoft.com/office/powerpoint/2010/main" val="49210190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6" name="Google Shape;140;p2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d79405bbcff468d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57" name="Google Shape;141;p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4d9fa2dfef49c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2" name="Google Shape;142;p24">
            <a:extLst xmlns:a="http://schemas.openxmlformats.org/drawingml/2006/main">
              <a:ext uri="{FF2B5EF4-FFF2-40B4-BE49-F238E27FC236}">
                <a16:creationId xmlns:a16="http://schemas.microsoft.com/office/drawing/2014/main" id="{8D3D96A8-EA02-446B-B557-59343D8C2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>
            <a:extLst xmlns:a="http://schemas.openxmlformats.org/drawingml/2006/main">
              <a:ext uri="{FF2B5EF4-FFF2-40B4-BE49-F238E27FC236}">
                <a16:creationId xmlns:a16="http://schemas.microsoft.com/office/drawing/2014/main" id="{3932C7D3-549F-4BE3-B31C-673A6DE1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76275"/>
            <a:ext cx="8524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61616"/>
                </a:solidFill>
                <a:latin typeface="Arial"/>
                <a:ea typeface="Arial"/>
                <a:cs typeface="Arial"/>
              </a:rPr>
              <a:t>Prototype performance and tests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46" name="m1">
            <a:extLst xmlns:a="http://schemas.openxmlformats.org/drawingml/2006/main">
              <a:ext uri="{FF2B5EF4-FFF2-40B4-BE49-F238E27FC236}">
                <a16:creationId xmlns:a16="http://schemas.microsoft.com/office/drawing/2014/main" id="{4B3B3E66-D2AB-4883-A214-776F396F0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95425"/>
            <a:ext cx="22574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A73E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A73E8"/>
                </a:solidFill>
                <a:latin typeface="Arial"/>
                <a:ea typeface="Arial"/>
                <a:cs typeface="Arial"/>
              </a:rPr>
              <a:t>58 / 58</a:t>
            </a:r>
          </a:p>
        </p:txBody>
      </p:sp>
      <p:sp>
        <p:nvSpPr>
          <p:cNvPr id="147" name="m1b">
            <a:extLst xmlns:a="http://schemas.openxmlformats.org/drawingml/2006/main">
              <a:ext uri="{FF2B5EF4-FFF2-40B4-BE49-F238E27FC236}">
                <a16:creationId xmlns:a16="http://schemas.microsoft.com/office/drawing/2014/main" id="{A5A762FD-807A-44CD-8BD1-19E04DDB1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09775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automated tests passed</a:t>
            </a:r>
          </a:p>
        </p:txBody>
      </p:sp>
      <p:sp>
        <p:nvSpPr>
          <p:cNvPr id="148" name="m2">
            <a:extLst xmlns:a="http://schemas.openxmlformats.org/drawingml/2006/main">
              <a:ext uri="{FF2B5EF4-FFF2-40B4-BE49-F238E27FC236}">
                <a16:creationId xmlns:a16="http://schemas.microsoft.com/office/drawing/2014/main" id="{19E7129B-7B01-48E9-9B1D-FFD7D92D6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95425"/>
            <a:ext cx="22574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A73E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A73E8"/>
                </a:solidFill>
                <a:latin typeface="Arial"/>
                <a:ea typeface="Arial"/>
                <a:cs typeface="Arial"/>
              </a:rPr>
              <a:t>38 / 39</a:t>
            </a:r>
          </a:p>
        </p:txBody>
      </p:sp>
      <p:sp>
        <p:nvSpPr>
          <p:cNvPr id="149" name="m2b">
            <a:extLst xmlns:a="http://schemas.openxmlformats.org/drawingml/2006/main">
              <a:ext uri="{FF2B5EF4-FFF2-40B4-BE49-F238E27FC236}">
                <a16:creationId xmlns:a16="http://schemas.microsoft.com/office/drawing/2014/main" id="{3678C00E-88C6-428E-B583-C33F5E35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009775"/>
            <a:ext cx="24479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feasible price pairs agreed</a:t>
            </a:r>
          </a:p>
        </p:txBody>
      </p:sp>
      <p:sp>
        <p:nvSpPr>
          <p:cNvPr id="150" name="m3">
            <a:extLst xmlns:a="http://schemas.openxmlformats.org/drawingml/2006/main">
              <a:ext uri="{FF2B5EF4-FFF2-40B4-BE49-F238E27FC236}">
                <a16:creationId xmlns:a16="http://schemas.microsoft.com/office/drawing/2014/main" id="{C51414E7-AB31-4A71-A746-3D057881B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495425"/>
            <a:ext cx="25050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A73E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A73E8"/>
                </a:solidFill>
                <a:latin typeface="Arial"/>
                <a:ea typeface="Arial"/>
                <a:cs typeface="Arial"/>
              </a:rPr>
              <a:t>100 / 100</a:t>
            </a:r>
          </a:p>
        </p:txBody>
      </p:sp>
      <p:sp>
        <p:nvSpPr>
          <p:cNvPr id="151" name="m3b">
            <a:extLst xmlns:a="http://schemas.openxmlformats.org/drawingml/2006/main">
              <a:ext uri="{FF2B5EF4-FFF2-40B4-BE49-F238E27FC236}">
                <a16:creationId xmlns:a16="http://schemas.microsoft.com/office/drawing/2014/main" id="{2541CD8B-C88E-429C-83FF-18F8BC02C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09775"/>
            <a:ext cx="25050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canary probes withheld</a:t>
            </a:r>
          </a:p>
        </p:txBody>
      </p:sp>
      <p:sp>
        <p:nvSpPr>
          <p:cNvPr id="152" name="metric-rule">
            <a:extLst xmlns:a="http://schemas.openxmlformats.org/drawingml/2006/main">
              <a:ext uri="{FF2B5EF4-FFF2-40B4-BE49-F238E27FC236}">
                <a16:creationId xmlns:a16="http://schemas.microsoft.com/office/drawing/2014/main" id="{693DDF3D-8A48-48F4-AB2C-28A1CFC0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76500"/>
            <a:ext cx="8048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9B9"/>
          </a:solidFill>
          <a:ln xmlns:a="http://schemas.openxmlformats.org/drawingml/2006/main" w="0">
            <a:noFill/>
          </a:ln>
        </p:spPr>
      </p:sp>
      <p:sp>
        <p:nvSpPr>
          <p:cNvPr id="153" name="latency">
            <a:extLst xmlns:a="http://schemas.openxmlformats.org/drawingml/2006/main">
              <a:ext uri="{FF2B5EF4-FFF2-40B4-BE49-F238E27FC236}">
                <a16:creationId xmlns:a16="http://schemas.microsoft.com/office/drawing/2014/main" id="{4BCDDCD2-7A30-4A02-B026-6A6241C42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705100"/>
            <a:ext cx="8048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Intent routing on real Gemini: p50 1.1 s, p95 1.4 s (120 requests).</a:t>
            </a:r>
          </a:p>
        </p:txBody>
      </p:sp>
      <p:sp>
        <p:nvSpPr>
          <p:cNvPr id="154" name="neg">
            <a:extLst xmlns:a="http://schemas.openxmlformats.org/drawingml/2006/main">
              <a:ext uri="{FF2B5EF4-FFF2-40B4-BE49-F238E27FC236}">
                <a16:creationId xmlns:a16="http://schemas.microsoft.com/office/drawing/2014/main" id="{7CE5179E-0F94-42D5-99E1-77DB2C039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28975"/>
            <a:ext cx="8048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Every agreed benchmark price stayed within both parties’ private limits. Ten infeasible pairs made no deal.</a:t>
            </a:r>
          </a:p>
        </p:txBody>
      </p:sp>
      <p:sp>
        <p:nvSpPr>
          <p:cNvPr id="155" name="limits">
            <a:extLst xmlns:a="http://schemas.openxmlformats.org/drawingml/2006/main">
              <a:ext uri="{FF2B5EF4-FFF2-40B4-BE49-F238E27FC236}">
                <a16:creationId xmlns:a16="http://schemas.microsoft.com/office/drawing/2014/main" id="{742CDEE7-83F6-4246-9650-057B75EB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19550"/>
            <a:ext cx="8048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Benchmark used one product, repeated intent and attack templates, an in-memory store and laptop-to-Vertex latency. All 100 privacy probes escalated to the owner.</a:t>
            </a:r>
          </a:p>
        </p:txBody>
      </p:sp>
    </p:spTree>
    <p:extLst>
      <p:ext uri="{BB962C8B-B14F-4D97-AF65-F5344CB8AC3E}">
        <p14:creationId xmlns:p14="http://schemas.microsoft.com/office/powerpoint/2010/main" val="124001823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0" name="Google Shape;148;p2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960c18a294d44bd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61" name="Google Shape;149;p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98732274bf4fb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277D2E1B-3C3B-4C6A-BD9C-D8B3E9E4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D14D4CE4-ED9C-42FA-AD82-1973C334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76275"/>
            <a:ext cx="8524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61616"/>
                </a:solidFill>
                <a:latin typeface="Arial"/>
                <a:ea typeface="Arial"/>
                <a:cs typeface="Arial"/>
              </a:rPr>
              <a:t>Next steps and provenance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54" name="next1">
            <a:extLst xmlns:a="http://schemas.openxmlformats.org/drawingml/2006/main">
              <a:ext uri="{FF2B5EF4-FFF2-40B4-BE49-F238E27FC236}">
                <a16:creationId xmlns:a16="http://schemas.microsoft.com/office/drawing/2014/main" id="{7BB9F454-8E46-451E-8EE2-FF709400A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95425"/>
            <a:ext cx="804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Near-term additions</a:t>
            </a:r>
          </a:p>
        </p:txBody>
      </p:sp>
      <p:sp>
        <p:nvSpPr>
          <p:cNvPr id="155" name="next1b">
            <a:extLst xmlns:a="http://schemas.openxmlformats.org/drawingml/2006/main">
              <a:ext uri="{FF2B5EF4-FFF2-40B4-BE49-F238E27FC236}">
                <a16:creationId xmlns:a16="http://schemas.microsoft.com/office/drawing/2014/main" id="{3474E016-C04B-4A4A-9B6A-793936D0D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95475"/>
            <a:ext cx="80486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Seller counter view for today’s paid orders; controlled pickup-window tradeoffs; Model Armor screening on outside-agent text.</a:t>
            </a:r>
          </a:p>
        </p:txBody>
      </p:sp>
      <p:sp>
        <p:nvSpPr>
          <p:cNvPr id="156" name="next-rule">
            <a:extLst xmlns:a="http://schemas.openxmlformats.org/drawingml/2006/main">
              <a:ext uri="{FF2B5EF4-FFF2-40B4-BE49-F238E27FC236}">
                <a16:creationId xmlns:a16="http://schemas.microsoft.com/office/drawing/2014/main" id="{C8BE332B-F2FE-4819-83D7-4C30F100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28925"/>
            <a:ext cx="8048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9B9"/>
          </a:solidFill>
          <a:ln xmlns:a="http://schemas.openxmlformats.org/drawingml/2006/main" w="0">
            <a:noFill/>
          </a:ln>
        </p:spPr>
      </p:sp>
      <p:sp>
        <p:nvSpPr>
          <p:cNvPr id="157" name="next2">
            <a:extLst xmlns:a="http://schemas.openxmlformats.org/drawingml/2006/main">
              <a:ext uri="{FF2B5EF4-FFF2-40B4-BE49-F238E27FC236}">
                <a16:creationId xmlns:a16="http://schemas.microsoft.com/office/drawing/2014/main" id="{DC1E4EF6-5868-48B3-B5AB-2D2022DA0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00375"/>
            <a:ext cx="804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Later roadmap</a:t>
            </a:r>
          </a:p>
        </p:txBody>
      </p:sp>
      <p:sp>
        <p:nvSpPr>
          <p:cNvPr id="158" name="next2b">
            <a:extLst xmlns:a="http://schemas.openxmlformats.org/drawingml/2006/main">
              <a:ext uri="{FF2B5EF4-FFF2-40B4-BE49-F238E27FC236}">
                <a16:creationId xmlns:a16="http://schemas.microsoft.com/office/drawing/2014/main" id="{F98C7AC8-2801-4C83-AD71-3052C17C0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00425"/>
            <a:ext cx="80486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Real payment-provider integration and UPI reconciliation. The hackathon prototype moves no money.</a:t>
            </a:r>
          </a:p>
        </p:txBody>
      </p:sp>
      <p:sp>
        <p:nvSpPr>
          <p:cNvPr id="159" name="prov">
            <a:extLst xmlns:a="http://schemas.openxmlformats.org/drawingml/2006/main">
              <a:ext uri="{FF2B5EF4-FFF2-40B4-BE49-F238E27FC236}">
                <a16:creationId xmlns:a16="http://schemas.microsoft.com/office/drawing/2014/main" id="{DFD04ECC-DFF2-493C-A79C-18E1283CB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219575"/>
            <a:ext cx="8048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Provenance: reading, matching and negotiation logic was ported from the authors’ native Collab app. The web app and retail workflow were built for this event.</a:t>
            </a:r>
          </a:p>
        </p:txBody>
      </p:sp>
    </p:spTree>
    <p:extLst>
      <p:ext uri="{BB962C8B-B14F-4D97-AF65-F5344CB8AC3E}">
        <p14:creationId xmlns:p14="http://schemas.microsoft.com/office/powerpoint/2010/main" val="142104396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0" name="Google Shape;156;p2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c514f7e65b0428a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1" name="Google Shape;157;p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af9b14316846e5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ECD007CF-3E8F-4142-A76C-838A2CDF6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B7EC4203-4132-4649-B597-6278E929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76275"/>
            <a:ext cx="8524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61616"/>
                </a:solidFill>
                <a:latin typeface="Arial"/>
                <a:ea typeface="Arial"/>
                <a:cs typeface="Arial"/>
              </a:rPr>
              <a:t>Product and submission links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62" name="repo-label">
            <a:extLst xmlns:a="http://schemas.openxmlformats.org/drawingml/2006/main">
              <a:ext uri="{FF2B5EF4-FFF2-40B4-BE49-F238E27FC236}">
                <a16:creationId xmlns:a16="http://schemas.microsoft.com/office/drawing/2014/main" id="{07B0969B-8CBE-47AB-9E2F-8817324A6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14475"/>
            <a:ext cx="8048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Public GitHub repository</a:t>
            </a:r>
          </a:p>
        </p:txBody>
      </p:sp>
      <p:sp>
        <p:nvSpPr>
          <p:cNvPr id="163" name="repo-url">
            <a:extLst xmlns:a="http://schemas.openxmlformats.org/drawingml/2006/main">
              <a:ext uri="{FF2B5EF4-FFF2-40B4-BE49-F238E27FC236}">
                <a16:creationId xmlns:a16="http://schemas.microsoft.com/office/drawing/2014/main" id="{9BACA338-E826-42F3-81F9-8193D31A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76425"/>
            <a:ext cx="8048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A73E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A73E8"/>
                </a:solidFill>
                <a:latin typeface="Arial"/>
                <a:ea typeface="Arial"/>
                <a:cs typeface="Arial"/>
                <a:hlinkClick xmlns:r="http://schemas.openxmlformats.org/officeDocument/2006/relationships" r:id="Rccd8f4d8b22f4b14"/>
              </a:rPr>
              <a:t>https://github.com/kirav5/collab</a:t>
            </a:r>
          </a:p>
        </p:txBody>
      </p:sp>
      <p:sp>
        <p:nvSpPr>
          <p:cNvPr id="164" name="links-rule1">
            <a:extLst xmlns:a="http://schemas.openxmlformats.org/drawingml/2006/main">
              <a:ext uri="{FF2B5EF4-FFF2-40B4-BE49-F238E27FC236}">
                <a16:creationId xmlns:a16="http://schemas.microsoft.com/office/drawing/2014/main" id="{9BC3523C-1B78-4CB0-92C2-6F0474C2D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62200"/>
            <a:ext cx="8048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9B9"/>
          </a:solidFill>
          <a:ln xmlns:a="http://schemas.openxmlformats.org/drawingml/2006/main" w="0">
            <a:noFill/>
          </a:ln>
        </p:spPr>
      </p:sp>
      <p:sp>
        <p:nvSpPr>
          <p:cNvPr id="165" name="video-label">
            <a:extLst xmlns:a="http://schemas.openxmlformats.org/drawingml/2006/main">
              <a:ext uri="{FF2B5EF4-FFF2-40B4-BE49-F238E27FC236}">
                <a16:creationId xmlns:a16="http://schemas.microsoft.com/office/drawing/2014/main" id="{F6737FAD-ACA3-4F39-BEBD-C480649B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533650"/>
            <a:ext cx="8048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Demo video (3–4 minutes)</a:t>
            </a:r>
          </a:p>
        </p:txBody>
      </p:sp>
      <p:sp>
        <p:nvSpPr>
          <p:cNvPr id="166" name="video-pending">
            <a:extLst xmlns:a="http://schemas.openxmlformats.org/drawingml/2006/main">
              <a:ext uri="{FF2B5EF4-FFF2-40B4-BE49-F238E27FC236}">
                <a16:creationId xmlns:a16="http://schemas.microsoft.com/office/drawing/2014/main" id="{FA68B6DF-C36F-4D01-9C59-D269E3626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95600"/>
            <a:ext cx="8048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Add link after recording. Required by the submission form.</a:t>
            </a:r>
          </a:p>
        </p:txBody>
      </p:sp>
      <p:sp>
        <p:nvSpPr>
          <p:cNvPr id="167" name="links-rule2">
            <a:extLst xmlns:a="http://schemas.openxmlformats.org/drawingml/2006/main">
              <a:ext uri="{FF2B5EF4-FFF2-40B4-BE49-F238E27FC236}">
                <a16:creationId xmlns:a16="http://schemas.microsoft.com/office/drawing/2014/main" id="{63F447C6-22CC-4C16-83A1-4DAA6039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09950"/>
            <a:ext cx="8048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9B9"/>
          </a:solidFill>
          <a:ln xmlns:a="http://schemas.openxmlformats.org/drawingml/2006/main" w="0">
            <a:noFill/>
          </a:ln>
        </p:spPr>
      </p:sp>
      <p:sp>
        <p:nvSpPr>
          <p:cNvPr id="168" name="product-label">
            <a:extLst xmlns:a="http://schemas.openxmlformats.org/drawingml/2006/main">
              <a:ext uri="{FF2B5EF4-FFF2-40B4-BE49-F238E27FC236}">
                <a16:creationId xmlns:a16="http://schemas.microsoft.com/office/drawing/2014/main" id="{C18A17F5-C313-4E1B-B7F2-2884EA00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581400"/>
            <a:ext cx="8048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Deployed prototype</a:t>
            </a:r>
          </a:p>
        </p:txBody>
      </p:sp>
      <p:sp>
        <p:nvSpPr>
          <p:cNvPr id="169" name="product-url">
            <a:extLst xmlns:a="http://schemas.openxmlformats.org/drawingml/2006/main">
              <a:ext uri="{FF2B5EF4-FFF2-40B4-BE49-F238E27FC236}">
                <a16:creationId xmlns:a16="http://schemas.microsoft.com/office/drawing/2014/main" id="{1ECB7502-5BF4-4B85-9822-F64DC2C4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943350"/>
            <a:ext cx="8048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A73E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A73E8"/>
                </a:solidFill>
                <a:latin typeface="Arial"/>
                <a:ea typeface="Arial"/>
                <a:cs typeface="Arial"/>
                <a:hlinkClick xmlns:r="http://schemas.openxmlformats.org/officeDocument/2006/relationships" r:id="R0756d7da1bb5467c"/>
              </a:rPr>
              <a:t>https://collab-55.web.app</a:t>
            </a:r>
          </a:p>
        </p:txBody>
      </p:sp>
    </p:spTree>
    <p:extLst>
      <p:ext uri="{BB962C8B-B14F-4D97-AF65-F5344CB8AC3E}">
        <p14:creationId xmlns:p14="http://schemas.microsoft.com/office/powerpoint/2010/main" val="73499044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Google Shape;171;p2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81618014f164159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4" name="Google Shape;172;p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549936473d4494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1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602563375"/>
      </p:ext>
    </p:extLst>
  </p:cSld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39" name="Google Shape;116;p21"/>
          <p:cNvPicPr>
            <a:picLocks noChangeAspect="1"/>
          </p:cNvPicPr>
          <p:nvPr/>
        </p:nvPicPr>
        <p:blipFill rotWithShape="1">
          <a:blip r:embed="rId2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ln>
            <a:noFill/>
          </a:ln>
        </p:spPr>
      </p:pic>
      <p:pic>
        <p:nvPicPr>
          <p:cNvPr id="140" name="Google Shape;117;p21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 l="0" t="0" r="0" b="0"/>
          </a:stretch>
        </p:blipFill>
        <p:spPr>
          <a:xfrm>
            <a:off x="0" y="1"/>
            <a:ext cx="9144000" cy="507359"/>
          </a:xfrm>
          <a:prstGeom prst="rect">
            <a:avLst/>
          </a:prstGeom>
          <a:ln>
            <a:noFill/>
          </a:ln>
        </p:spPr>
      </p:pic>
      <p:sp>
        <p:nvSpPr>
          <p:cNvPr id="118" name="Google Shape;118;p21">
            <a:extLst>
              <a:ext uri="{FF2B5EF4-FFF2-40B4-BE49-F238E27FC236}">
                <a16:creationId xmlns:a16="http://schemas.microsoft.com/office/drawing/2014/main" id="{90FAB6E9-1B1E-4AC3-8107-7514F14484D4}"/>
              </a:ext>
            </a:extLst>
          </p:cNvPr>
          <p:cNvSpPr>
            <a:spLocks noGrp="1"/>
          </p:cNvSpPr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>
            <a:extLst>
              <a:ext uri="{FF2B5EF4-FFF2-40B4-BE49-F238E27FC236}">
                <a16:creationId xmlns:a16="http://schemas.microsoft.com/office/drawing/2014/main" id="{70EF1269-C4C4-4ABB-BEEE-D0867E087EA7}"/>
              </a:ext>
            </a:extLst>
          </p:cNvPr>
          <p:cNvSpPr>
            <a:spLocks noGrp="1"/>
          </p:cNvSpPr>
          <p:nvPr/>
        </p:nvSpPr>
        <p:spPr>
          <a:xfrm>
            <a:off x="266700" y="676275"/>
            <a:ext cx="8524875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rmAutofit fontScale="100000"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725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61616"/>
                </a:solidFill>
                <a:latin typeface="Arial"/>
                <a:ea typeface="Arial"/>
                <a:cs typeface="Arial"/>
              </a:rPr>
              <a:t>Trust built in: fraud prevention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200" name="trust-label-0">
            <a:extLst>
              <a:ext uri="{FF2B5EF4-FFF2-40B4-BE49-F238E27FC236}">
                <a16:creationId xmlns:a16="http://schemas.microsoft.com/office/drawing/2014/main" id="{FD321D03-A498-4D36-A747-32F9961F2285}"/>
              </a:ext>
            </a:extLst>
          </p:cNvPr>
          <p:cNvSpPr>
            <a:spLocks noGrp="1"/>
          </p:cNvSpPr>
          <p:nvPr/>
        </p:nvSpPr>
        <p:spPr>
          <a:xfrm>
            <a:off x="523875" y="1400175"/>
            <a:ext cx="271462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Pickup/booking pass</a:t>
            </a:r>
          </a:p>
        </p:txBody>
      </p:sp>
      <p:sp>
        <p:nvSpPr>
          <p:cNvPr id="201" name="trust-desc-0">
            <a:extLst>
              <a:ext uri="{FF2B5EF4-FFF2-40B4-BE49-F238E27FC236}">
                <a16:creationId xmlns:a16="http://schemas.microsoft.com/office/drawing/2014/main" id="{D75CB656-661E-4542-A438-C941DA210235}"/>
              </a:ext>
            </a:extLst>
          </p:cNvPr>
          <p:cNvSpPr>
            <a:spLocks noGrp="1"/>
          </p:cNvSpPr>
          <p:nvPr/>
        </p:nvSpPr>
        <p:spPr>
          <a:xfrm>
            <a:off x="3324225" y="1400175"/>
            <a:ext cx="5238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Second scan refused; the seller is matched by account</a:t>
            </a:r>
          </a:p>
        </p:txBody>
      </p:sp>
      <p:sp>
        <p:nvSpPr>
          <p:cNvPr id="202" name="trust-rule-0">
            <a:extLst>
              <a:ext uri="{FF2B5EF4-FFF2-40B4-BE49-F238E27FC236}">
                <a16:creationId xmlns:a16="http://schemas.microsoft.com/office/drawing/2014/main" id="{FC78AC28-F000-4B80-B03D-BB2D9F6AC8B7}"/>
              </a:ext>
            </a:extLst>
          </p:cNvPr>
          <p:cNvSpPr>
            <a:spLocks noGrp="1"/>
          </p:cNvSpPr>
          <p:nvPr/>
        </p:nvSpPr>
        <p:spPr>
          <a:xfrm>
            <a:off x="523875" y="1819275"/>
            <a:ext cx="8048625" cy="9525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</p:sp>
      <p:sp>
        <p:nvSpPr>
          <p:cNvPr id="203" name="trust-label-1">
            <a:extLst>
              <a:ext uri="{FF2B5EF4-FFF2-40B4-BE49-F238E27FC236}">
                <a16:creationId xmlns:a16="http://schemas.microsoft.com/office/drawing/2014/main" id="{306D714D-3713-4E36-99CE-710E4EA69727}"/>
              </a:ext>
            </a:extLst>
          </p:cNvPr>
          <p:cNvSpPr>
            <a:spLocks noGrp="1"/>
          </p:cNvSpPr>
          <p:nvPr/>
        </p:nvSpPr>
        <p:spPr>
          <a:xfrm>
            <a:off x="523875" y="1876425"/>
            <a:ext cx="271462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Signed receipts</a:t>
            </a:r>
          </a:p>
        </p:txBody>
      </p:sp>
      <p:sp>
        <p:nvSpPr>
          <p:cNvPr id="204" name="trust-desc-1">
            <a:extLst>
              <a:ext uri="{FF2B5EF4-FFF2-40B4-BE49-F238E27FC236}">
                <a16:creationId xmlns:a16="http://schemas.microsoft.com/office/drawing/2014/main" id="{E4B36518-440C-4DCC-B26D-4C2FF3468013}"/>
              </a:ext>
            </a:extLst>
          </p:cNvPr>
          <p:cNvSpPr>
            <a:spLocks noGrp="1"/>
          </p:cNvSpPr>
          <p:nvPr/>
        </p:nvSpPr>
        <p:spPr>
          <a:xfrm>
            <a:off x="3324225" y="1876425"/>
            <a:ext cx="5238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Ed25519-signed; any edit fails. Demo: “Try changing the price”</a:t>
            </a:r>
          </a:p>
        </p:txBody>
      </p:sp>
      <p:sp>
        <p:nvSpPr>
          <p:cNvPr id="205" name="trust-rule-1">
            <a:extLst>
              <a:ext uri="{FF2B5EF4-FFF2-40B4-BE49-F238E27FC236}">
                <a16:creationId xmlns:a16="http://schemas.microsoft.com/office/drawing/2014/main" id="{7FC6007B-C4A5-4369-972C-B6F2D8576849}"/>
              </a:ext>
            </a:extLst>
          </p:cNvPr>
          <p:cNvSpPr>
            <a:spLocks noGrp="1"/>
          </p:cNvSpPr>
          <p:nvPr/>
        </p:nvSpPr>
        <p:spPr>
          <a:xfrm>
            <a:off x="523875" y="2295525"/>
            <a:ext cx="8048625" cy="9525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</p:sp>
      <p:sp>
        <p:nvSpPr>
          <p:cNvPr id="206" name="trust-label-2">
            <a:extLst>
              <a:ext uri="{FF2B5EF4-FFF2-40B4-BE49-F238E27FC236}">
                <a16:creationId xmlns:a16="http://schemas.microsoft.com/office/drawing/2014/main" id="{1E2ADF80-DE49-4419-90BF-B51735CF84D9}"/>
              </a:ext>
            </a:extLst>
          </p:cNvPr>
          <p:cNvSpPr>
            <a:spLocks noGrp="1"/>
          </p:cNvSpPr>
          <p:nvPr/>
        </p:nvSpPr>
        <p:spPr>
          <a:xfrm>
            <a:off x="523875" y="2352675"/>
            <a:ext cx="271462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Model Armor</a:t>
            </a:r>
          </a:p>
        </p:txBody>
      </p:sp>
      <p:sp>
        <p:nvSpPr>
          <p:cNvPr id="207" name="trust-desc-2">
            <a:extLst>
              <a:ext uri="{FF2B5EF4-FFF2-40B4-BE49-F238E27FC236}">
                <a16:creationId xmlns:a16="http://schemas.microsoft.com/office/drawing/2014/main" id="{E8FA3B8F-4642-416B-A5C4-555C93DD5035}"/>
              </a:ext>
            </a:extLst>
          </p:cNvPr>
          <p:cNvSpPr>
            <a:spLocks noGrp="1"/>
          </p:cNvSpPr>
          <p:nvPr/>
        </p:nvSpPr>
        <p:spPr>
          <a:xfrm>
            <a:off x="3324225" y="2352675"/>
            <a:ext cx="5238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Screens every message from other agents for prompt injection</a:t>
            </a:r>
          </a:p>
        </p:txBody>
      </p:sp>
      <p:sp>
        <p:nvSpPr>
          <p:cNvPr id="208" name="trust-rule-2">
            <a:extLst>
              <a:ext uri="{FF2B5EF4-FFF2-40B4-BE49-F238E27FC236}">
                <a16:creationId xmlns:a16="http://schemas.microsoft.com/office/drawing/2014/main" id="{5C17DB77-BE48-49C7-9722-FAEA26B2820B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8048625" cy="9525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</p:sp>
      <p:sp>
        <p:nvSpPr>
          <p:cNvPr id="209" name="trust-label-3">
            <a:extLst>
              <a:ext uri="{FF2B5EF4-FFF2-40B4-BE49-F238E27FC236}">
                <a16:creationId xmlns:a16="http://schemas.microsoft.com/office/drawing/2014/main" id="{6606DE32-A264-4C34-9AA0-D2608F344A0F}"/>
              </a:ext>
            </a:extLst>
          </p:cNvPr>
          <p:cNvSpPr>
            <a:spLocks noGrp="1"/>
          </p:cNvSpPr>
          <p:nvPr/>
        </p:nvSpPr>
        <p:spPr>
          <a:xfrm>
            <a:off x="523875" y="2828925"/>
            <a:ext cx="271462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No overselling</a:t>
            </a:r>
          </a:p>
        </p:txBody>
      </p:sp>
      <p:sp>
        <p:nvSpPr>
          <p:cNvPr id="210" name="trust-desc-3">
            <a:extLst>
              <a:ext uri="{FF2B5EF4-FFF2-40B4-BE49-F238E27FC236}">
                <a16:creationId xmlns:a16="http://schemas.microsoft.com/office/drawing/2014/main" id="{37D2A817-21B7-4522-A73F-056BD95468FA}"/>
              </a:ext>
            </a:extLst>
          </p:cNvPr>
          <p:cNvSpPr>
            <a:spLocks noGrp="1"/>
          </p:cNvSpPr>
          <p:nvPr/>
        </p:nvSpPr>
        <p:spPr>
          <a:xfrm>
            <a:off x="3324225" y="2828925"/>
            <a:ext cx="5238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Per-buyer limits and atomic stock holds</a:t>
            </a:r>
          </a:p>
        </p:txBody>
      </p:sp>
      <p:sp>
        <p:nvSpPr>
          <p:cNvPr id="211" name="trust-rule-3">
            <a:extLst>
              <a:ext uri="{FF2B5EF4-FFF2-40B4-BE49-F238E27FC236}">
                <a16:creationId xmlns:a16="http://schemas.microsoft.com/office/drawing/2014/main" id="{6DA57FBA-32BC-4A96-93AE-1893C01314E8}"/>
              </a:ext>
            </a:extLst>
          </p:cNvPr>
          <p:cNvSpPr>
            <a:spLocks noGrp="1"/>
          </p:cNvSpPr>
          <p:nvPr/>
        </p:nvSpPr>
        <p:spPr>
          <a:xfrm>
            <a:off x="523875" y="3248025"/>
            <a:ext cx="8048625" cy="9525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</p:sp>
      <p:sp>
        <p:nvSpPr>
          <p:cNvPr id="212" name="trust-label-4">
            <a:extLst>
              <a:ext uri="{FF2B5EF4-FFF2-40B4-BE49-F238E27FC236}">
                <a16:creationId xmlns:a16="http://schemas.microsoft.com/office/drawing/2014/main" id="{4DA1622D-B8DF-40A3-B2A6-CAEC0CD79027}"/>
              </a:ext>
            </a:extLst>
          </p:cNvPr>
          <p:cNvSpPr>
            <a:spLocks noGrp="1"/>
          </p:cNvSpPr>
          <p:nvPr/>
        </p:nvSpPr>
        <p:spPr>
          <a:xfrm>
            <a:off x="523875" y="3305175"/>
            <a:ext cx="271462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Seller record</a:t>
            </a:r>
          </a:p>
        </p:txBody>
      </p:sp>
      <p:sp>
        <p:nvSpPr>
          <p:cNvPr id="213" name="trust-desc-4">
            <a:extLst>
              <a:ext uri="{FF2B5EF4-FFF2-40B4-BE49-F238E27FC236}">
                <a16:creationId xmlns:a16="http://schemas.microsoft.com/office/drawing/2014/main" id="{4FA94DED-7A0B-410F-8873-6BBCB4B6A911}"/>
              </a:ext>
            </a:extLst>
          </p:cNvPr>
          <p:cNvSpPr>
            <a:spLocks noGrp="1"/>
          </p:cNvSpPr>
          <p:nvPr/>
        </p:nvSpPr>
        <p:spPr>
          <a:xfrm>
            <a:off x="3324225" y="3305175"/>
            <a:ext cx="5238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Public record counts problems from signed receipts</a:t>
            </a:r>
          </a:p>
        </p:txBody>
      </p:sp>
      <p:sp>
        <p:nvSpPr>
          <p:cNvPr id="214" name="trust-rule-4">
            <a:extLst>
              <a:ext uri="{FF2B5EF4-FFF2-40B4-BE49-F238E27FC236}">
                <a16:creationId xmlns:a16="http://schemas.microsoft.com/office/drawing/2014/main" id="{BD9C8BD4-63D6-4B52-A903-DCCE1D91C5D8}"/>
              </a:ext>
            </a:extLst>
          </p:cNvPr>
          <p:cNvSpPr>
            <a:spLocks noGrp="1"/>
          </p:cNvSpPr>
          <p:nvPr/>
        </p:nvSpPr>
        <p:spPr>
          <a:xfrm>
            <a:off x="523875" y="3724275"/>
            <a:ext cx="8048625" cy="9525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</p:sp>
      <p:sp>
        <p:nvSpPr>
          <p:cNvPr id="215" name="trust-label-5">
            <a:extLst>
              <a:ext uri="{FF2B5EF4-FFF2-40B4-BE49-F238E27FC236}">
                <a16:creationId xmlns:a16="http://schemas.microsoft.com/office/drawing/2014/main" id="{7F7FC35F-157B-4123-B8F2-874FA6076F18}"/>
              </a:ext>
            </a:extLst>
          </p:cNvPr>
          <p:cNvSpPr>
            <a:spLocks noGrp="1"/>
          </p:cNvSpPr>
          <p:nvPr/>
        </p:nvSpPr>
        <p:spPr>
          <a:xfrm>
            <a:off x="523875" y="3781425"/>
            <a:ext cx="271462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App Check</a:t>
            </a:r>
          </a:p>
        </p:txBody>
      </p:sp>
      <p:sp>
        <p:nvSpPr>
          <p:cNvPr id="216" name="trust-desc-5">
            <a:extLst>
              <a:ext uri="{FF2B5EF4-FFF2-40B4-BE49-F238E27FC236}">
                <a16:creationId xmlns:a16="http://schemas.microsoft.com/office/drawing/2014/main" id="{2029E64E-53AE-495C-8A70-0255D58920E6}"/>
              </a:ext>
            </a:extLst>
          </p:cNvPr>
          <p:cNvSpPr>
            <a:spLocks noGrp="1"/>
          </p:cNvSpPr>
          <p:nvPr/>
        </p:nvSpPr>
        <p:spPr>
          <a:xfrm>
            <a:off x="3324225" y="3781425"/>
            <a:ext cx="5238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Checks every write; unverified browsers are rate-limited</a:t>
            </a:r>
          </a:p>
        </p:txBody>
      </p:sp>
      <p:sp>
        <p:nvSpPr>
          <p:cNvPr id="217" name="trust-rule-5">
            <a:extLst>
              <a:ext uri="{FF2B5EF4-FFF2-40B4-BE49-F238E27FC236}">
                <a16:creationId xmlns:a16="http://schemas.microsoft.com/office/drawing/2014/main" id="{6C65EBE2-8D16-4D24-BFD7-953FDFE208D6}"/>
              </a:ext>
            </a:extLst>
          </p:cNvPr>
          <p:cNvSpPr>
            <a:spLocks noGrp="1"/>
          </p:cNvSpPr>
          <p:nvPr/>
        </p:nvSpPr>
        <p:spPr>
          <a:xfrm>
            <a:off x="523875" y="4200525"/>
            <a:ext cx="8048625" cy="9525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</p:sp>
      <p:sp>
        <p:nvSpPr>
          <p:cNvPr id="218" name="trust-label-6">
            <a:extLst>
              <a:ext uri="{FF2B5EF4-FFF2-40B4-BE49-F238E27FC236}">
                <a16:creationId xmlns:a16="http://schemas.microsoft.com/office/drawing/2014/main" id="{ADEB4F0F-A210-41C3-8C88-79CE64E51AA9}"/>
              </a:ext>
            </a:extLst>
          </p:cNvPr>
          <p:cNvSpPr>
            <a:spLocks noGrp="1"/>
          </p:cNvSpPr>
          <p:nvPr/>
        </p:nvSpPr>
        <p:spPr>
          <a:xfrm>
            <a:off x="523875" y="4257675"/>
            <a:ext cx="271462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5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Demo payments</a:t>
            </a:r>
          </a:p>
        </p:txBody>
      </p:sp>
      <p:sp>
        <p:nvSpPr>
          <p:cNvPr id="219" name="trust-desc-6">
            <a:extLst>
              <a:ext uri="{FF2B5EF4-FFF2-40B4-BE49-F238E27FC236}">
                <a16:creationId xmlns:a16="http://schemas.microsoft.com/office/drawing/2014/main" id="{D15180C2-1A42-424E-96A1-79006A17B70A}"/>
              </a:ext>
            </a:extLst>
          </p:cNvPr>
          <p:cNvSpPr>
            <a:spLocks noGrp="1"/>
          </p:cNvSpPr>
          <p:nvPr/>
        </p:nvSpPr>
        <p:spPr>
          <a:xfrm>
            <a:off x="3324225" y="4257675"/>
            <a:ext cx="5238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>
              <a:defRPr sz="13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Clearly tagged test mode; no real money moves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2026-10-14T19:42:10.2890000Z</dcterms:created>
  <dcterms:modified xsi:type="dcterms:W3CDTF">2026-10-14T19:42:10.2890000Z</dcterms:modified>
</coreProperties>
</file>